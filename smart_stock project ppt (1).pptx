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89" r:id="rId3"/>
    <p:sldId id="259" r:id="rId4"/>
    <p:sldId id="270" r:id="rId5"/>
    <p:sldId id="266" r:id="rId6"/>
    <p:sldId id="273" r:id="rId7"/>
    <p:sldId id="263" r:id="rId8"/>
    <p:sldId id="288" r:id="rId9"/>
    <p:sldId id="287" r:id="rId10"/>
    <p:sldId id="282" r:id="rId11"/>
    <p:sldId id="291" r:id="rId12"/>
    <p:sldId id="292" r:id="rId13"/>
    <p:sldId id="278" r:id="rId14"/>
    <p:sldId id="290" r:id="rId15"/>
  </p:sldIdLst>
  <p:sldSz cx="12192000" cy="6858000"/>
  <p:notesSz cx="12192000" cy="6858000"/>
  <p:embeddedFontLst>
    <p:embeddedFont>
      <p:font typeface="HGTTST+SegoeUI" panose="020B0604020202020204"/>
      <p:regular r:id="rId17"/>
    </p:embeddedFont>
    <p:embeddedFont>
      <p:font typeface="Merriweather" panose="00000500000000000000" pitchFamily="2" charset="0"/>
      <p:regular r:id="rId18"/>
    </p:embeddedFont>
    <p:embeddedFont>
      <p:font typeface="OQWKHA+SegoeUI-Bold" panose="020B0604020202020204"/>
      <p:regular r:id="rId19"/>
    </p:embeddedFont>
    <p:embeddedFont>
      <p:font typeface="Segoe UI" panose="020B0502040204020203" pitchFamily="34" charset="0"/>
      <p:regular r:id="rId20"/>
      <p:bold r:id="rId21"/>
      <p:italic r:id="rId22"/>
      <p:boldItalic r:id="rId23"/>
    </p:embeddedFont>
    <p:embeddedFont>
      <p:font typeface="Segoe UI Black" panose="020B0A02040204020203" pitchFamily="34" charset="0"/>
      <p:bold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7096"/>
    <a:srgbClr val="6692BF"/>
    <a:srgbClr val="2182E8"/>
    <a:srgbClr val="2487FB"/>
    <a:srgbClr val="3267C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5E1A25-0EF2-41AA-8214-E247425255BA}" v="528" dt="2026-01-09T12:25:44.6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07" autoAdjust="0"/>
    <p:restoredTop sz="94660"/>
  </p:normalViewPr>
  <p:slideViewPr>
    <p:cSldViewPr>
      <p:cViewPr varScale="1">
        <p:scale>
          <a:sx n="77" d="100"/>
          <a:sy n="77" d="100"/>
        </p:scale>
        <p:origin x="110" y="365"/>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kthi .S.P" userId="b771dd94c37c82dc" providerId="LiveId" clId="{24825470-949D-4095-A001-80D65434F61C}"/>
    <pc:docChg chg="undo custSel addSld delSld modSld sldOrd">
      <pc:chgData name="Bhakthi .S.P" userId="b771dd94c37c82dc" providerId="LiveId" clId="{24825470-949D-4095-A001-80D65434F61C}" dt="2026-01-09T12:26:31.065" v="1308" actId="1076"/>
      <pc:docMkLst>
        <pc:docMk/>
      </pc:docMkLst>
      <pc:sldChg chg="delSp modSp mod">
        <pc:chgData name="Bhakthi .S.P" userId="b771dd94c37c82dc" providerId="LiveId" clId="{24825470-949D-4095-A001-80D65434F61C}" dt="2026-01-09T12:03:11.513" v="1154" actId="1076"/>
        <pc:sldMkLst>
          <pc:docMk/>
          <pc:sldMk cId="0" sldId="256"/>
        </pc:sldMkLst>
        <pc:spChg chg="mod">
          <ac:chgData name="Bhakthi .S.P" userId="b771dd94c37c82dc" providerId="LiveId" clId="{24825470-949D-4095-A001-80D65434F61C}" dt="2026-01-09T12:03:07.767" v="1153" actId="1076"/>
          <ac:spMkLst>
            <pc:docMk/>
            <pc:sldMk cId="0" sldId="256"/>
            <ac:spMk id="5" creationId="{EF0F85AC-8D4D-1AF9-EC7D-65A5FF3C7A19}"/>
          </ac:spMkLst>
        </pc:spChg>
        <pc:spChg chg="del mod">
          <ac:chgData name="Bhakthi .S.P" userId="b771dd94c37c82dc" providerId="LiveId" clId="{24825470-949D-4095-A001-80D65434F61C}" dt="2026-01-09T10:56:09.843" v="176"/>
          <ac:spMkLst>
            <pc:docMk/>
            <pc:sldMk cId="0" sldId="256"/>
            <ac:spMk id="6" creationId="{949CD057-97A0-DEC5-BF24-25D713148192}"/>
          </ac:spMkLst>
        </pc:spChg>
        <pc:spChg chg="mod">
          <ac:chgData name="Bhakthi .S.P" userId="b771dd94c37c82dc" providerId="LiveId" clId="{24825470-949D-4095-A001-80D65434F61C}" dt="2026-01-09T12:03:01.120" v="1152" actId="1076"/>
          <ac:spMkLst>
            <pc:docMk/>
            <pc:sldMk cId="0" sldId="256"/>
            <ac:spMk id="9" creationId="{3B3F8F64-3064-EE38-8B29-F96D6B8C2F23}"/>
          </ac:spMkLst>
        </pc:spChg>
        <pc:spChg chg="mod">
          <ac:chgData name="Bhakthi .S.P" userId="b771dd94c37c82dc" providerId="LiveId" clId="{24825470-949D-4095-A001-80D65434F61C}" dt="2026-01-09T12:03:11.513" v="1154" actId="1076"/>
          <ac:spMkLst>
            <pc:docMk/>
            <pc:sldMk cId="0" sldId="256"/>
            <ac:spMk id="12" creationId="{199BFFEC-8585-393C-BB87-860BDAC7BBA0}"/>
          </ac:spMkLst>
        </pc:spChg>
      </pc:sldChg>
      <pc:sldChg chg="addSp delSp modSp mod">
        <pc:chgData name="Bhakthi .S.P" userId="b771dd94c37c82dc" providerId="LiveId" clId="{24825470-949D-4095-A001-80D65434F61C}" dt="2026-01-09T12:12:22.824" v="1188" actId="1076"/>
        <pc:sldMkLst>
          <pc:docMk/>
          <pc:sldMk cId="0" sldId="263"/>
        </pc:sldMkLst>
        <pc:spChg chg="mod">
          <ac:chgData name="Bhakthi .S.P" userId="b771dd94c37c82dc" providerId="LiveId" clId="{24825470-949D-4095-A001-80D65434F61C}" dt="2026-01-09T11:44:21.240" v="851" actId="1076"/>
          <ac:spMkLst>
            <pc:docMk/>
            <pc:sldMk cId="0" sldId="263"/>
            <ac:spMk id="2" creationId="{00000000-0000-0000-0000-000000000000}"/>
          </ac:spMkLst>
        </pc:spChg>
        <pc:spChg chg="mod">
          <ac:chgData name="Bhakthi .S.P" userId="b771dd94c37c82dc" providerId="LiveId" clId="{24825470-949D-4095-A001-80D65434F61C}" dt="2026-01-09T12:10:11.416" v="1171" actId="1076"/>
          <ac:spMkLst>
            <pc:docMk/>
            <pc:sldMk cId="0" sldId="263"/>
            <ac:spMk id="4" creationId="{0F785295-BBB4-71F3-C3A3-828030A834C5}"/>
          </ac:spMkLst>
        </pc:spChg>
        <pc:spChg chg="mod">
          <ac:chgData name="Bhakthi .S.P" userId="b771dd94c37c82dc" providerId="LiveId" clId="{24825470-949D-4095-A001-80D65434F61C}" dt="2026-01-09T12:12:17.118" v="1187" actId="1076"/>
          <ac:spMkLst>
            <pc:docMk/>
            <pc:sldMk cId="0" sldId="263"/>
            <ac:spMk id="5" creationId="{8E949DEC-C3CE-BEEE-9512-3B78430994D3}"/>
          </ac:spMkLst>
        </pc:spChg>
        <pc:spChg chg="mod">
          <ac:chgData name="Bhakthi .S.P" userId="b771dd94c37c82dc" providerId="LiveId" clId="{24825470-949D-4095-A001-80D65434F61C}" dt="2026-01-09T11:44:56.210" v="856" actId="1076"/>
          <ac:spMkLst>
            <pc:docMk/>
            <pc:sldMk cId="0" sldId="263"/>
            <ac:spMk id="6" creationId="{E3098C53-E07F-E078-5EC3-22AD76638B01}"/>
          </ac:spMkLst>
        </pc:spChg>
        <pc:spChg chg="mod">
          <ac:chgData name="Bhakthi .S.P" userId="b771dd94c37c82dc" providerId="LiveId" clId="{24825470-949D-4095-A001-80D65434F61C}" dt="2026-01-09T12:10:26.134" v="1183" actId="1076"/>
          <ac:spMkLst>
            <pc:docMk/>
            <pc:sldMk cId="0" sldId="263"/>
            <ac:spMk id="7" creationId="{94A99DBC-D527-EB9E-1570-15AA0D7EDC4B}"/>
          </ac:spMkLst>
        </pc:spChg>
        <pc:spChg chg="mod">
          <ac:chgData name="Bhakthi .S.P" userId="b771dd94c37c82dc" providerId="LiveId" clId="{24825470-949D-4095-A001-80D65434F61C}" dt="2026-01-09T12:12:22.824" v="1188" actId="1076"/>
          <ac:spMkLst>
            <pc:docMk/>
            <pc:sldMk cId="0" sldId="263"/>
            <ac:spMk id="8" creationId="{5B90A598-2E6F-1EBE-21DD-31C24FB033EE}"/>
          </ac:spMkLst>
        </pc:spChg>
        <pc:spChg chg="del mod">
          <ac:chgData name="Bhakthi .S.P" userId="b771dd94c37c82dc" providerId="LiveId" clId="{24825470-949D-4095-A001-80D65434F61C}" dt="2026-01-09T11:46:50.488" v="866"/>
          <ac:spMkLst>
            <pc:docMk/>
            <pc:sldMk cId="0" sldId="263"/>
            <ac:spMk id="9" creationId="{340565B0-5AE8-6A96-2E86-9FB9AB1D85F9}"/>
          </ac:spMkLst>
        </pc:spChg>
        <pc:spChg chg="add del mod">
          <ac:chgData name="Bhakthi .S.P" userId="b771dd94c37c82dc" providerId="LiveId" clId="{24825470-949D-4095-A001-80D65434F61C}" dt="2026-01-09T11:46:50.481" v="860"/>
          <ac:spMkLst>
            <pc:docMk/>
            <pc:sldMk cId="0" sldId="263"/>
            <ac:spMk id="10" creationId="{F3878555-E6B2-9D6D-35A8-C5C45751E65D}"/>
          </ac:spMkLst>
        </pc:spChg>
        <pc:spChg chg="add del mod">
          <ac:chgData name="Bhakthi .S.P" userId="b771dd94c37c82dc" providerId="LiveId" clId="{24825470-949D-4095-A001-80D65434F61C}" dt="2026-01-09T11:46:50.486" v="862"/>
          <ac:spMkLst>
            <pc:docMk/>
            <pc:sldMk cId="0" sldId="263"/>
            <ac:spMk id="12" creationId="{5742816D-26B3-C059-F3A2-938E5563D955}"/>
          </ac:spMkLst>
        </pc:spChg>
        <pc:spChg chg="add del mod">
          <ac:chgData name="Bhakthi .S.P" userId="b771dd94c37c82dc" providerId="LiveId" clId="{24825470-949D-4095-A001-80D65434F61C}" dt="2026-01-09T11:46:50.486" v="864"/>
          <ac:spMkLst>
            <pc:docMk/>
            <pc:sldMk cId="0" sldId="263"/>
            <ac:spMk id="14" creationId="{641D1C9A-2BA6-5C18-64CE-7979B8B3C59E}"/>
          </ac:spMkLst>
        </pc:spChg>
      </pc:sldChg>
      <pc:sldChg chg="delSp modSp mod">
        <pc:chgData name="Bhakthi .S.P" userId="b771dd94c37c82dc" providerId="LiveId" clId="{24825470-949D-4095-A001-80D65434F61C}" dt="2026-01-09T11:47:34.671" v="912" actId="478"/>
        <pc:sldMkLst>
          <pc:docMk/>
          <pc:sldMk cId="0" sldId="266"/>
        </pc:sldMkLst>
        <pc:spChg chg="mod">
          <ac:chgData name="Bhakthi .S.P" userId="b771dd94c37c82dc" providerId="LiveId" clId="{24825470-949D-4095-A001-80D65434F61C}" dt="2026-01-09T11:47:03.039" v="888" actId="20577"/>
          <ac:spMkLst>
            <pc:docMk/>
            <pc:sldMk cId="0" sldId="266"/>
            <ac:spMk id="3" creationId="{00000000-0000-0000-0000-000000000000}"/>
          </ac:spMkLst>
        </pc:spChg>
        <pc:spChg chg="mod">
          <ac:chgData name="Bhakthi .S.P" userId="b771dd94c37c82dc" providerId="LiveId" clId="{24825470-949D-4095-A001-80D65434F61C}" dt="2026-01-09T11:47:26.695" v="911" actId="20577"/>
          <ac:spMkLst>
            <pc:docMk/>
            <pc:sldMk cId="0" sldId="266"/>
            <ac:spMk id="14" creationId="{B61C4923-25FB-3565-802B-2ED170E9B37C}"/>
          </ac:spMkLst>
        </pc:spChg>
        <pc:spChg chg="del">
          <ac:chgData name="Bhakthi .S.P" userId="b771dd94c37c82dc" providerId="LiveId" clId="{24825470-949D-4095-A001-80D65434F61C}" dt="2026-01-09T11:47:34.671" v="912" actId="478"/>
          <ac:spMkLst>
            <pc:docMk/>
            <pc:sldMk cId="0" sldId="266"/>
            <ac:spMk id="18" creationId="{7D6F2D58-8476-69F1-A615-4306C7B2EF91}"/>
          </ac:spMkLst>
        </pc:spChg>
        <pc:spChg chg="del mod">
          <ac:chgData name="Bhakthi .S.P" userId="b771dd94c37c82dc" providerId="LiveId" clId="{24825470-949D-4095-A001-80D65434F61C}" dt="2026-01-09T11:16:14.740" v="266"/>
          <ac:spMkLst>
            <pc:docMk/>
            <pc:sldMk cId="0" sldId="266"/>
            <ac:spMk id="19" creationId="{A053B76C-CE28-6C9C-6323-657F61669C57}"/>
          </ac:spMkLst>
        </pc:spChg>
      </pc:sldChg>
      <pc:sldChg chg="modSp mod">
        <pc:chgData name="Bhakthi .S.P" userId="b771dd94c37c82dc" providerId="LiveId" clId="{24825470-949D-4095-A001-80D65434F61C}" dt="2026-01-09T11:48:51.011" v="941" actId="20577"/>
        <pc:sldMkLst>
          <pc:docMk/>
          <pc:sldMk cId="0" sldId="270"/>
        </pc:sldMkLst>
        <pc:spChg chg="mod">
          <ac:chgData name="Bhakthi .S.P" userId="b771dd94c37c82dc" providerId="LiveId" clId="{24825470-949D-4095-A001-80D65434F61C}" dt="2026-01-09T11:00:09.340" v="242" actId="1076"/>
          <ac:spMkLst>
            <pc:docMk/>
            <pc:sldMk cId="0" sldId="270"/>
            <ac:spMk id="10" creationId="{00000000-0000-0000-0000-000000000000}"/>
          </ac:spMkLst>
        </pc:spChg>
        <pc:spChg chg="mod">
          <ac:chgData name="Bhakthi .S.P" userId="b771dd94c37c82dc" providerId="LiveId" clId="{24825470-949D-4095-A001-80D65434F61C}" dt="2026-01-09T11:48:51.011" v="941" actId="20577"/>
          <ac:spMkLst>
            <pc:docMk/>
            <pc:sldMk cId="0" sldId="270"/>
            <ac:spMk id="11" creationId="{00000000-0000-0000-0000-000000000000}"/>
          </ac:spMkLst>
        </pc:spChg>
      </pc:sldChg>
      <pc:sldChg chg="modSp mod">
        <pc:chgData name="Bhakthi .S.P" userId="b771dd94c37c82dc" providerId="LiveId" clId="{24825470-949D-4095-A001-80D65434F61C}" dt="2026-01-09T12:17:40.706" v="1200" actId="1076"/>
        <pc:sldMkLst>
          <pc:docMk/>
          <pc:sldMk cId="0" sldId="273"/>
        </pc:sldMkLst>
        <pc:spChg chg="mod">
          <ac:chgData name="Bhakthi .S.P" userId="b771dd94c37c82dc" providerId="LiveId" clId="{24825470-949D-4095-A001-80D65434F61C}" dt="2026-01-09T12:17:40.706" v="1200" actId="1076"/>
          <ac:spMkLst>
            <pc:docMk/>
            <pc:sldMk cId="0" sldId="273"/>
            <ac:spMk id="7" creationId="{DB4CE6DA-5D50-4800-A360-E09F91FB027E}"/>
          </ac:spMkLst>
        </pc:spChg>
      </pc:sldChg>
      <pc:sldChg chg="modSp mod">
        <pc:chgData name="Bhakthi .S.P" userId="b771dd94c37c82dc" providerId="LiveId" clId="{24825470-949D-4095-A001-80D65434F61C}" dt="2026-01-09T11:58:32.579" v="1073" actId="20577"/>
        <pc:sldMkLst>
          <pc:docMk/>
          <pc:sldMk cId="0" sldId="278"/>
        </pc:sldMkLst>
        <pc:spChg chg="mod">
          <ac:chgData name="Bhakthi .S.P" userId="b771dd94c37c82dc" providerId="LiveId" clId="{24825470-949D-4095-A001-80D65434F61C}" dt="2026-01-09T11:58:32.579" v="1073" actId="20577"/>
          <ac:spMkLst>
            <pc:docMk/>
            <pc:sldMk cId="0" sldId="278"/>
            <ac:spMk id="7" creationId="{94D83D05-21A5-B686-9487-0B3A4E11EA5F}"/>
          </ac:spMkLst>
        </pc:spChg>
      </pc:sldChg>
      <pc:sldChg chg="modSp mod">
        <pc:chgData name="Bhakthi .S.P" userId="b771dd94c37c82dc" providerId="LiveId" clId="{24825470-949D-4095-A001-80D65434F61C}" dt="2026-01-09T11:49:08.764" v="948" actId="20577"/>
        <pc:sldMkLst>
          <pc:docMk/>
          <pc:sldMk cId="0" sldId="282"/>
        </pc:sldMkLst>
        <pc:spChg chg="mod">
          <ac:chgData name="Bhakthi .S.P" userId="b771dd94c37c82dc" providerId="LiveId" clId="{24825470-949D-4095-A001-80D65434F61C}" dt="2026-01-09T11:49:08.764" v="948" actId="20577"/>
          <ac:spMkLst>
            <pc:docMk/>
            <pc:sldMk cId="0" sldId="282"/>
            <ac:spMk id="8" creationId="{A84AE787-3281-5FF3-D259-5B4757E02B58}"/>
          </ac:spMkLst>
        </pc:spChg>
        <pc:spChg chg="mod">
          <ac:chgData name="Bhakthi .S.P" userId="b771dd94c37c82dc" providerId="LiveId" clId="{24825470-949D-4095-A001-80D65434F61C}" dt="2026-01-09T11:18:55.957" v="414" actId="20577"/>
          <ac:spMkLst>
            <pc:docMk/>
            <pc:sldMk cId="0" sldId="282"/>
            <ac:spMk id="10" creationId="{76851338-3C5E-BE27-A667-78BD6D6B07BB}"/>
          </ac:spMkLst>
        </pc:spChg>
      </pc:sldChg>
      <pc:sldChg chg="delSp modSp del mod ord">
        <pc:chgData name="Bhakthi .S.P" userId="b771dd94c37c82dc" providerId="LiveId" clId="{24825470-949D-4095-A001-80D65434F61C}" dt="2026-01-09T11:19:37.155" v="423" actId="2696"/>
        <pc:sldMkLst>
          <pc:docMk/>
          <pc:sldMk cId="0" sldId="286"/>
        </pc:sldMkLst>
        <pc:spChg chg="del mod">
          <ac:chgData name="Bhakthi .S.P" userId="b771dd94c37c82dc" providerId="LiveId" clId="{24825470-949D-4095-A001-80D65434F61C}" dt="2026-01-09T11:19:20.186" v="417"/>
          <ac:spMkLst>
            <pc:docMk/>
            <pc:sldMk cId="0" sldId="286"/>
            <ac:spMk id="5" creationId="{6F8FD4EB-2529-1C68-8318-B3F208BB5607}"/>
          </ac:spMkLst>
        </pc:spChg>
      </pc:sldChg>
      <pc:sldChg chg="modSp mod">
        <pc:chgData name="Bhakthi .S.P" userId="b771dd94c37c82dc" providerId="LiveId" clId="{24825470-949D-4095-A001-80D65434F61C}" dt="2026-01-09T11:17:36.483" v="375" actId="1076"/>
        <pc:sldMkLst>
          <pc:docMk/>
          <pc:sldMk cId="3563228751" sldId="287"/>
        </pc:sldMkLst>
        <pc:spChg chg="mod">
          <ac:chgData name="Bhakthi .S.P" userId="b771dd94c37c82dc" providerId="LiveId" clId="{24825470-949D-4095-A001-80D65434F61C}" dt="2026-01-09T11:17:36.483" v="375" actId="1076"/>
          <ac:spMkLst>
            <pc:docMk/>
            <pc:sldMk cId="3563228751" sldId="287"/>
            <ac:spMk id="51" creationId="{D13C5BE8-3DAD-E8EB-4439-AA480913038D}"/>
          </ac:spMkLst>
        </pc:spChg>
        <pc:spChg chg="mod">
          <ac:chgData name="Bhakthi .S.P" userId="b771dd94c37c82dc" providerId="LiveId" clId="{24825470-949D-4095-A001-80D65434F61C}" dt="2026-01-09T11:17:27.779" v="364" actId="20577"/>
          <ac:spMkLst>
            <pc:docMk/>
            <pc:sldMk cId="3563228751" sldId="287"/>
            <ac:spMk id="53" creationId="{427AFBAA-BD9D-53FA-0E72-7481AB1E2AA6}"/>
          </ac:spMkLst>
        </pc:spChg>
      </pc:sldChg>
      <pc:sldChg chg="addSp delSp modSp mod">
        <pc:chgData name="Bhakthi .S.P" userId="b771dd94c37c82dc" providerId="LiveId" clId="{24825470-949D-4095-A001-80D65434F61C}" dt="2026-01-09T11:58:12.767" v="1064" actId="1076"/>
        <pc:sldMkLst>
          <pc:docMk/>
          <pc:sldMk cId="1190633904" sldId="288"/>
        </pc:sldMkLst>
        <pc:spChg chg="mod">
          <ac:chgData name="Bhakthi .S.P" userId="b771dd94c37c82dc" providerId="LiveId" clId="{24825470-949D-4095-A001-80D65434F61C}" dt="2026-01-09T11:57:08.631" v="1055" actId="1076"/>
          <ac:spMkLst>
            <pc:docMk/>
            <pc:sldMk cId="1190633904" sldId="288"/>
            <ac:spMk id="2" creationId="{21D566FA-7CBE-830D-D1E6-BECAFCEFD996}"/>
          </ac:spMkLst>
        </pc:spChg>
        <pc:spChg chg="mod">
          <ac:chgData name="Bhakthi .S.P" userId="b771dd94c37c82dc" providerId="LiveId" clId="{24825470-949D-4095-A001-80D65434F61C}" dt="2026-01-09T11:58:06.452" v="1063" actId="1076"/>
          <ac:spMkLst>
            <pc:docMk/>
            <pc:sldMk cId="1190633904" sldId="288"/>
            <ac:spMk id="3" creationId="{8970291D-721C-3D55-AFF0-59D238FCE2E8}"/>
          </ac:spMkLst>
        </pc:spChg>
        <pc:spChg chg="mod">
          <ac:chgData name="Bhakthi .S.P" userId="b771dd94c37c82dc" providerId="LiveId" clId="{24825470-949D-4095-A001-80D65434F61C}" dt="2026-01-09T11:58:12.767" v="1064" actId="1076"/>
          <ac:spMkLst>
            <pc:docMk/>
            <pc:sldMk cId="1190633904" sldId="288"/>
            <ac:spMk id="4" creationId="{09B96850-7530-C542-C0E2-00B36A86908F}"/>
          </ac:spMkLst>
        </pc:spChg>
        <pc:spChg chg="add del mod">
          <ac:chgData name="Bhakthi .S.P" userId="b771dd94c37c82dc" providerId="LiveId" clId="{24825470-949D-4095-A001-80D65434F61C}" dt="2026-01-09T11:57:29.366" v="1059"/>
          <ac:spMkLst>
            <pc:docMk/>
            <pc:sldMk cId="1190633904" sldId="288"/>
            <ac:spMk id="6" creationId="{83852FE0-F078-9D73-9E71-43A863A698DF}"/>
          </ac:spMkLst>
        </pc:spChg>
      </pc:sldChg>
      <pc:sldChg chg="addSp delSp modSp mod ord">
        <pc:chgData name="Bhakthi .S.P" userId="b771dd94c37c82dc" providerId="LiveId" clId="{24825470-949D-4095-A001-80D65434F61C}" dt="2026-01-09T12:26:31.065" v="1308" actId="1076"/>
        <pc:sldMkLst>
          <pc:docMk/>
          <pc:sldMk cId="837675091" sldId="289"/>
        </pc:sldMkLst>
        <pc:spChg chg="mod">
          <ac:chgData name="Bhakthi .S.P" userId="b771dd94c37c82dc" providerId="LiveId" clId="{24825470-949D-4095-A001-80D65434F61C}" dt="2026-01-09T10:55:27.515" v="155" actId="20577"/>
          <ac:spMkLst>
            <pc:docMk/>
            <pc:sldMk cId="837675091" sldId="289"/>
            <ac:spMk id="3" creationId="{8C0CD792-9706-9CD9-9896-416C068E1EE7}"/>
          </ac:spMkLst>
        </pc:spChg>
        <pc:spChg chg="add mod">
          <ac:chgData name="Bhakthi .S.P" userId="b771dd94c37c82dc" providerId="LiveId" clId="{24825470-949D-4095-A001-80D65434F61C}" dt="2026-01-09T12:22:38.474" v="1281" actId="255"/>
          <ac:spMkLst>
            <pc:docMk/>
            <pc:sldMk cId="837675091" sldId="289"/>
            <ac:spMk id="4" creationId="{4564F1E8-9867-6F8D-0CCA-824A312DEA76}"/>
          </ac:spMkLst>
        </pc:spChg>
        <pc:spChg chg="mod">
          <ac:chgData name="Bhakthi .S.P" userId="b771dd94c37c82dc" providerId="LiveId" clId="{24825470-949D-4095-A001-80D65434F61C}" dt="2026-01-09T12:19:27.136" v="1241" actId="14100"/>
          <ac:spMkLst>
            <pc:docMk/>
            <pc:sldMk cId="837675091" sldId="289"/>
            <ac:spMk id="6" creationId="{8FC675B6-286B-512D-2946-D7BDC9FD65B8}"/>
          </ac:spMkLst>
        </pc:spChg>
        <pc:spChg chg="mod">
          <ac:chgData name="Bhakthi .S.P" userId="b771dd94c37c82dc" providerId="LiveId" clId="{24825470-949D-4095-A001-80D65434F61C}" dt="2026-01-09T12:25:02.184" v="1295" actId="14100"/>
          <ac:spMkLst>
            <pc:docMk/>
            <pc:sldMk cId="837675091" sldId="289"/>
            <ac:spMk id="7" creationId="{B49C343A-0AC2-18FC-7A93-24773604AB39}"/>
          </ac:spMkLst>
        </pc:spChg>
        <pc:spChg chg="add mod">
          <ac:chgData name="Bhakthi .S.P" userId="b771dd94c37c82dc" providerId="LiveId" clId="{24825470-949D-4095-A001-80D65434F61C}" dt="2026-01-09T12:22:54.110" v="1283" actId="1076"/>
          <ac:spMkLst>
            <pc:docMk/>
            <pc:sldMk cId="837675091" sldId="289"/>
            <ac:spMk id="8" creationId="{C418EE84-6639-B229-2621-6FED9877D8B2}"/>
          </ac:spMkLst>
        </pc:spChg>
        <pc:spChg chg="add mod">
          <ac:chgData name="Bhakthi .S.P" userId="b771dd94c37c82dc" providerId="LiveId" clId="{24825470-949D-4095-A001-80D65434F61C}" dt="2026-01-09T12:22:15.207" v="1279" actId="1076"/>
          <ac:spMkLst>
            <pc:docMk/>
            <pc:sldMk cId="837675091" sldId="289"/>
            <ac:spMk id="9" creationId="{BB54E3BE-438B-68C8-4D23-92632427A719}"/>
          </ac:spMkLst>
        </pc:spChg>
        <pc:spChg chg="add mod">
          <ac:chgData name="Bhakthi .S.P" userId="b771dd94c37c82dc" providerId="LiveId" clId="{24825470-949D-4095-A001-80D65434F61C}" dt="2026-01-09T12:23:36.204" v="1287" actId="1076"/>
          <ac:spMkLst>
            <pc:docMk/>
            <pc:sldMk cId="837675091" sldId="289"/>
            <ac:spMk id="10" creationId="{7B91221C-94C9-AE60-8766-C0774CDA6052}"/>
          </ac:spMkLst>
        </pc:spChg>
        <pc:spChg chg="add mod">
          <ac:chgData name="Bhakthi .S.P" userId="b771dd94c37c82dc" providerId="LiveId" clId="{24825470-949D-4095-A001-80D65434F61C}" dt="2026-01-09T12:24:14.290" v="1291" actId="1076"/>
          <ac:spMkLst>
            <pc:docMk/>
            <pc:sldMk cId="837675091" sldId="289"/>
            <ac:spMk id="12" creationId="{4823E3E7-C6E2-1463-6B38-57395E0D178B}"/>
          </ac:spMkLst>
        </pc:spChg>
        <pc:spChg chg="add mod">
          <ac:chgData name="Bhakthi .S.P" userId="b771dd94c37c82dc" providerId="LiveId" clId="{24825470-949D-4095-A001-80D65434F61C}" dt="2026-01-09T12:26:25.231" v="1307" actId="1076"/>
          <ac:spMkLst>
            <pc:docMk/>
            <pc:sldMk cId="837675091" sldId="289"/>
            <ac:spMk id="13" creationId="{4105BAA4-3729-6450-7437-46AC44EF0EE3}"/>
          </ac:spMkLst>
        </pc:spChg>
        <pc:spChg chg="add mod">
          <ac:chgData name="Bhakthi .S.P" userId="b771dd94c37c82dc" providerId="LiveId" clId="{24825470-949D-4095-A001-80D65434F61C}" dt="2026-01-09T12:25:17.452" v="1297" actId="1076"/>
          <ac:spMkLst>
            <pc:docMk/>
            <pc:sldMk cId="837675091" sldId="289"/>
            <ac:spMk id="14" creationId="{CB212D70-E769-C11E-D924-B9C2B0B2CAE1}"/>
          </ac:spMkLst>
        </pc:spChg>
        <pc:spChg chg="add mod">
          <ac:chgData name="Bhakthi .S.P" userId="b771dd94c37c82dc" providerId="LiveId" clId="{24825470-949D-4095-A001-80D65434F61C}" dt="2026-01-09T12:25:30.391" v="1299" actId="1076"/>
          <ac:spMkLst>
            <pc:docMk/>
            <pc:sldMk cId="837675091" sldId="289"/>
            <ac:spMk id="15" creationId="{DB221A19-C8B3-3E36-C6EC-0B349AFF401B}"/>
          </ac:spMkLst>
        </pc:spChg>
        <pc:spChg chg="add mod">
          <ac:chgData name="Bhakthi .S.P" userId="b771dd94c37c82dc" providerId="LiveId" clId="{24825470-949D-4095-A001-80D65434F61C}" dt="2026-01-09T12:26:31.065" v="1308" actId="1076"/>
          <ac:spMkLst>
            <pc:docMk/>
            <pc:sldMk cId="837675091" sldId="289"/>
            <ac:spMk id="16" creationId="{2EA45D93-D66F-E61C-6D9D-075E7629E216}"/>
          </ac:spMkLst>
        </pc:spChg>
        <pc:spChg chg="add mod">
          <ac:chgData name="Bhakthi .S.P" userId="b771dd94c37c82dc" providerId="LiveId" clId="{24825470-949D-4095-A001-80D65434F61C}" dt="2026-01-09T12:26:19.471" v="1306" actId="1076"/>
          <ac:spMkLst>
            <pc:docMk/>
            <pc:sldMk cId="837675091" sldId="289"/>
            <ac:spMk id="17" creationId="{2B4F50EC-CE29-F717-31CE-78DAD0190F07}"/>
          </ac:spMkLst>
        </pc:spChg>
        <pc:picChg chg="del">
          <ac:chgData name="Bhakthi .S.P" userId="b771dd94c37c82dc" providerId="LiveId" clId="{24825470-949D-4095-A001-80D65434F61C}" dt="2026-01-09T10:55:38.722" v="156" actId="478"/>
          <ac:picMkLst>
            <pc:docMk/>
            <pc:sldMk cId="837675091" sldId="289"/>
            <ac:picMk id="10" creationId="{D0809328-B8B1-78B0-B1C7-A3C10765216F}"/>
          </ac:picMkLst>
        </pc:picChg>
      </pc:sldChg>
      <pc:sldChg chg="add">
        <pc:chgData name="Bhakthi .S.P" userId="b771dd94c37c82dc" providerId="LiveId" clId="{24825470-949D-4095-A001-80D65434F61C}" dt="2026-01-09T11:19:24.507" v="420" actId="2890"/>
        <pc:sldMkLst>
          <pc:docMk/>
          <pc:sldMk cId="3982350218" sldId="290"/>
        </pc:sldMkLst>
      </pc:sldChg>
      <pc:sldChg chg="addSp delSp modSp add mod">
        <pc:chgData name="Bhakthi .S.P" userId="b771dd94c37c82dc" providerId="LiveId" clId="{24825470-949D-4095-A001-80D65434F61C}" dt="2026-01-09T11:25:38.151" v="567" actId="123"/>
        <pc:sldMkLst>
          <pc:docMk/>
          <pc:sldMk cId="3990421163" sldId="291"/>
        </pc:sldMkLst>
        <pc:spChg chg="mod">
          <ac:chgData name="Bhakthi .S.P" userId="b771dd94c37c82dc" providerId="LiveId" clId="{24825470-949D-4095-A001-80D65434F61C}" dt="2026-01-09T11:21:27.183" v="496" actId="20577"/>
          <ac:spMkLst>
            <pc:docMk/>
            <pc:sldMk cId="3990421163" sldId="291"/>
            <ac:spMk id="3" creationId="{2D60AA56-D0EB-9A47-F2F3-0FEA3F31E77D}"/>
          </ac:spMkLst>
        </pc:spChg>
        <pc:spChg chg="add mod">
          <ac:chgData name="Bhakthi .S.P" userId="b771dd94c37c82dc" providerId="LiveId" clId="{24825470-949D-4095-A001-80D65434F61C}" dt="2026-01-09T11:22:42.310" v="510" actId="1076"/>
          <ac:spMkLst>
            <pc:docMk/>
            <pc:sldMk cId="3990421163" sldId="291"/>
            <ac:spMk id="4" creationId="{701665BD-0E89-0621-F5D7-8A953BAB516A}"/>
          </ac:spMkLst>
        </pc:spChg>
        <pc:spChg chg="del mod">
          <ac:chgData name="Bhakthi .S.P" userId="b771dd94c37c82dc" providerId="LiveId" clId="{24825470-949D-4095-A001-80D65434F61C}" dt="2026-01-09T11:22:14.392" v="505" actId="478"/>
          <ac:spMkLst>
            <pc:docMk/>
            <pc:sldMk cId="3990421163" sldId="291"/>
            <ac:spMk id="6" creationId="{307E541E-CA51-F743-130C-2E7FB1044A10}"/>
          </ac:spMkLst>
        </pc:spChg>
        <pc:spChg chg="del mod">
          <ac:chgData name="Bhakthi .S.P" userId="b771dd94c37c82dc" providerId="LiveId" clId="{24825470-949D-4095-A001-80D65434F61C}" dt="2026-01-09T11:22:14.392" v="507"/>
          <ac:spMkLst>
            <pc:docMk/>
            <pc:sldMk cId="3990421163" sldId="291"/>
            <ac:spMk id="7" creationId="{B7646302-3A46-4347-53F5-E9B368E05040}"/>
          </ac:spMkLst>
        </pc:spChg>
        <pc:spChg chg="add mod">
          <ac:chgData name="Bhakthi .S.P" userId="b771dd94c37c82dc" providerId="LiveId" clId="{24825470-949D-4095-A001-80D65434F61C}" dt="2026-01-09T11:25:38.151" v="567" actId="123"/>
          <ac:spMkLst>
            <pc:docMk/>
            <pc:sldMk cId="3990421163" sldId="291"/>
            <ac:spMk id="8" creationId="{0A4F8F0E-479E-1C7D-142B-6E062FAB7D27}"/>
          </ac:spMkLst>
        </pc:spChg>
      </pc:sldChg>
      <pc:sldChg chg="addSp delSp modSp add mod">
        <pc:chgData name="Bhakthi .S.P" userId="b771dd94c37c82dc" providerId="LiveId" clId="{24825470-949D-4095-A001-80D65434F61C}" dt="2026-01-09T11:25:20.661" v="564" actId="123"/>
        <pc:sldMkLst>
          <pc:docMk/>
          <pc:sldMk cId="2652913001" sldId="292"/>
        </pc:sldMkLst>
        <pc:spChg chg="mod">
          <ac:chgData name="Bhakthi .S.P" userId="b771dd94c37c82dc" providerId="LiveId" clId="{24825470-949D-4095-A001-80D65434F61C}" dt="2026-01-09T11:23:33.312" v="550" actId="20577"/>
          <ac:spMkLst>
            <pc:docMk/>
            <pc:sldMk cId="2652913001" sldId="292"/>
            <ac:spMk id="3" creationId="{A643CEBD-8EB6-57CF-5132-D006F6AB5425}"/>
          </ac:spMkLst>
        </pc:spChg>
        <pc:spChg chg="del">
          <ac:chgData name="Bhakthi .S.P" userId="b771dd94c37c82dc" providerId="LiveId" clId="{24825470-949D-4095-A001-80D65434F61C}" dt="2026-01-09T11:23:50.880" v="552" actId="478"/>
          <ac:spMkLst>
            <pc:docMk/>
            <pc:sldMk cId="2652913001" sldId="292"/>
            <ac:spMk id="4" creationId="{DD029C1C-C900-3339-0360-32C0D18E8657}"/>
          </ac:spMkLst>
        </pc:spChg>
        <pc:spChg chg="add mod">
          <ac:chgData name="Bhakthi .S.P" userId="b771dd94c37c82dc" providerId="LiveId" clId="{24825470-949D-4095-A001-80D65434F61C}" dt="2026-01-09T11:24:08.628" v="558" actId="14100"/>
          <ac:spMkLst>
            <pc:docMk/>
            <pc:sldMk cId="2652913001" sldId="292"/>
            <ac:spMk id="6" creationId="{600D6DFF-8FA0-85AB-F285-8C1D0C4D1548}"/>
          </ac:spMkLst>
        </pc:spChg>
        <pc:spChg chg="mod">
          <ac:chgData name="Bhakthi .S.P" userId="b771dd94c37c82dc" providerId="LiveId" clId="{24825470-949D-4095-A001-80D65434F61C}" dt="2026-01-09T11:25:20.661" v="564" actId="123"/>
          <ac:spMkLst>
            <pc:docMk/>
            <pc:sldMk cId="2652913001" sldId="292"/>
            <ac:spMk id="8" creationId="{14DE51C3-D8CE-9774-B95F-B8B83677F0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DD07D68-8D6F-4267-9D17-4763042D0489}" type="datetimeFigureOut">
              <a:rPr lang="en-IN" smtClean="0"/>
              <a:t>09-01-2026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4807ADC9-FA28-425B-BCD8-F0D8E51FDF31}" type="slidenum">
              <a:rPr lang="en-IN" smtClean="0"/>
              <a:t>‹#›</a:t>
            </a:fld>
            <a:endParaRPr lang="en-IN"/>
          </a:p>
        </p:txBody>
      </p:sp>
    </p:spTree>
    <p:extLst>
      <p:ext uri="{BB962C8B-B14F-4D97-AF65-F5344CB8AC3E}">
        <p14:creationId xmlns:p14="http://schemas.microsoft.com/office/powerpoint/2010/main" val="3013405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807ADC9-FA28-425B-BCD8-F0D8E51FDF31}" type="slidenum">
              <a:rPr lang="en-IN" smtClean="0"/>
              <a:t>1</a:t>
            </a:fld>
            <a:endParaRPr lang="en-IN"/>
          </a:p>
        </p:txBody>
      </p:sp>
    </p:spTree>
    <p:extLst>
      <p:ext uri="{BB962C8B-B14F-4D97-AF65-F5344CB8AC3E}">
        <p14:creationId xmlns:p14="http://schemas.microsoft.com/office/powerpoint/2010/main" val="320792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1/9/2026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1/9/2026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hyperlink" Target="https://byword.ai/" TargetMode="External"/><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3" cstate="print"/>
            <a:stretch>
              <a:fillRect/>
            </a:stretch>
          </a:blipFill>
        </p:spPr>
        <p:txBody>
          <a:bodyPr wrap="square" lIns="0" tIns="0" rIns="0" bIns="0" rtlCol="0">
            <a:spAutoFit/>
          </a:bodyPr>
          <a:lstStyle/>
          <a:p>
            <a:endParaRPr dirty="0"/>
          </a:p>
        </p:txBody>
      </p:sp>
      <p:sp>
        <p:nvSpPr>
          <p:cNvPr id="3" name="object 3"/>
          <p:cNvSpPr txBox="1"/>
          <p:nvPr/>
        </p:nvSpPr>
        <p:spPr>
          <a:xfrm>
            <a:off x="695400" y="692696"/>
            <a:ext cx="7056784" cy="961802"/>
          </a:xfrm>
          <a:prstGeom prst="rect">
            <a:avLst/>
          </a:prstGeom>
        </p:spPr>
        <p:txBody>
          <a:bodyPr vert="horz" wrap="square" lIns="0" tIns="0" rIns="0" bIns="0" rtlCol="0">
            <a:spAutoFit/>
          </a:bodyPr>
          <a:lstStyle/>
          <a:p>
            <a:pPr marL="0" marR="0">
              <a:lnSpc>
                <a:spcPts val="7502"/>
              </a:lnSpc>
              <a:spcBef>
                <a:spcPts val="0"/>
              </a:spcBef>
              <a:spcAft>
                <a:spcPts val="0"/>
              </a:spcAft>
            </a:pPr>
            <a:endParaRPr lang="en-US" sz="6600" b="1" dirty="0">
              <a:solidFill>
                <a:srgbClr val="FFFFFF"/>
              </a:solidFill>
              <a:latin typeface="OQWKHA+SegoeUI-Bold"/>
              <a:cs typeface="OQWKHA+SegoeUI-Bold"/>
            </a:endParaRPr>
          </a:p>
        </p:txBody>
      </p:sp>
      <p:sp>
        <p:nvSpPr>
          <p:cNvPr id="5" name="TextBox 4">
            <a:extLst>
              <a:ext uri="{FF2B5EF4-FFF2-40B4-BE49-F238E27FC236}">
                <a16:creationId xmlns:a16="http://schemas.microsoft.com/office/drawing/2014/main" id="{EF0F85AC-8D4D-1AF9-EC7D-65A5FF3C7A19}"/>
              </a:ext>
            </a:extLst>
          </p:cNvPr>
          <p:cNvSpPr txBox="1"/>
          <p:nvPr/>
        </p:nvSpPr>
        <p:spPr>
          <a:xfrm>
            <a:off x="134210" y="194578"/>
            <a:ext cx="10585176" cy="2862322"/>
          </a:xfrm>
          <a:prstGeom prst="rect">
            <a:avLst/>
          </a:prstGeom>
          <a:noFill/>
        </p:spPr>
        <p:txBody>
          <a:bodyPr wrap="square" rtlCol="0">
            <a:spAutoFit/>
          </a:bodyPr>
          <a:lstStyle/>
          <a:p>
            <a:r>
              <a:rPr lang="en-IN" sz="6000" b="1" dirty="0">
                <a:solidFill>
                  <a:schemeClr val="bg2"/>
                </a:solidFill>
                <a:latin typeface="Segoe UI Black" panose="020B0A02040204020203" pitchFamily="34" charset="0"/>
                <a:ea typeface="Segoe UI Black" panose="020B0A02040204020203" pitchFamily="34" charset="0"/>
              </a:rPr>
              <a:t>Smart Stock: Inventory Optimization for Retail Stores</a:t>
            </a:r>
          </a:p>
        </p:txBody>
      </p:sp>
      <p:sp>
        <p:nvSpPr>
          <p:cNvPr id="7" name="TextBox 6">
            <a:extLst>
              <a:ext uri="{FF2B5EF4-FFF2-40B4-BE49-F238E27FC236}">
                <a16:creationId xmlns:a16="http://schemas.microsoft.com/office/drawing/2014/main" id="{58FEC851-D2E0-B5F8-85A8-6DC1B63C104A}"/>
              </a:ext>
            </a:extLst>
          </p:cNvPr>
          <p:cNvSpPr txBox="1"/>
          <p:nvPr/>
        </p:nvSpPr>
        <p:spPr>
          <a:xfrm>
            <a:off x="5951984" y="2996952"/>
            <a:ext cx="360040" cy="369332"/>
          </a:xfrm>
          <a:prstGeom prst="rect">
            <a:avLst/>
          </a:prstGeom>
          <a:noFill/>
        </p:spPr>
        <p:txBody>
          <a:bodyPr wrap="square" rtlCol="0">
            <a:spAutoFit/>
          </a:bodyPr>
          <a:lstStyle/>
          <a:p>
            <a:endParaRPr lang="en-IN" dirty="0"/>
          </a:p>
        </p:txBody>
      </p:sp>
      <p:sp>
        <p:nvSpPr>
          <p:cNvPr id="8" name="TextBox 7">
            <a:extLst>
              <a:ext uri="{FF2B5EF4-FFF2-40B4-BE49-F238E27FC236}">
                <a16:creationId xmlns:a16="http://schemas.microsoft.com/office/drawing/2014/main" id="{DA19FCBD-8F0D-62EE-3193-76E27EDBA090}"/>
              </a:ext>
            </a:extLst>
          </p:cNvPr>
          <p:cNvSpPr txBox="1"/>
          <p:nvPr/>
        </p:nvSpPr>
        <p:spPr>
          <a:xfrm>
            <a:off x="11856640" y="6462628"/>
            <a:ext cx="216024" cy="369332"/>
          </a:xfrm>
          <a:prstGeom prst="rect">
            <a:avLst/>
          </a:prstGeom>
          <a:noFill/>
        </p:spPr>
        <p:txBody>
          <a:bodyPr wrap="square" rtlCol="0">
            <a:spAutoFit/>
          </a:bodyPr>
          <a:lstStyle/>
          <a:p>
            <a:r>
              <a:rPr lang="en-IN" dirty="0"/>
              <a:t>1</a:t>
            </a:r>
          </a:p>
        </p:txBody>
      </p:sp>
      <p:sp>
        <p:nvSpPr>
          <p:cNvPr id="9" name="TextBox 8">
            <a:extLst>
              <a:ext uri="{FF2B5EF4-FFF2-40B4-BE49-F238E27FC236}">
                <a16:creationId xmlns:a16="http://schemas.microsoft.com/office/drawing/2014/main" id="{3B3F8F64-3064-EE38-8B29-F96D6B8C2F23}"/>
              </a:ext>
            </a:extLst>
          </p:cNvPr>
          <p:cNvSpPr txBox="1"/>
          <p:nvPr/>
        </p:nvSpPr>
        <p:spPr>
          <a:xfrm>
            <a:off x="3575720" y="5589240"/>
            <a:ext cx="5832648" cy="707886"/>
          </a:xfrm>
          <a:prstGeom prst="rect">
            <a:avLst/>
          </a:prstGeom>
          <a:noFill/>
        </p:spPr>
        <p:txBody>
          <a:bodyPr wrap="square" rtlCol="0">
            <a:spAutoFit/>
          </a:bodyPr>
          <a:lstStyle/>
          <a:p>
            <a:r>
              <a:rPr lang="en-IN" sz="2000" dirty="0">
                <a:solidFill>
                  <a:schemeClr val="bg2"/>
                </a:solidFill>
                <a:latin typeface="Segoe UI Black" panose="020B0A02040204020203" pitchFamily="34" charset="0"/>
                <a:ea typeface="Segoe UI Black" panose="020B0A02040204020203" pitchFamily="34" charset="0"/>
              </a:rPr>
              <a:t>              Guided by:</a:t>
            </a:r>
          </a:p>
          <a:p>
            <a:r>
              <a:rPr lang="en-IN" sz="2000" dirty="0">
                <a:solidFill>
                  <a:schemeClr val="bg2"/>
                </a:solidFill>
                <a:latin typeface="Segoe UI Black" panose="020B0A02040204020203" pitchFamily="34" charset="0"/>
                <a:ea typeface="Segoe UI Black" panose="020B0A02040204020203" pitchFamily="34" charset="0"/>
              </a:rPr>
              <a:t>SAKTHI GOPALAKRISHNAN</a:t>
            </a:r>
          </a:p>
        </p:txBody>
      </p:sp>
      <p:sp>
        <p:nvSpPr>
          <p:cNvPr id="12" name="TextBox 11">
            <a:extLst>
              <a:ext uri="{FF2B5EF4-FFF2-40B4-BE49-F238E27FC236}">
                <a16:creationId xmlns:a16="http://schemas.microsoft.com/office/drawing/2014/main" id="{199BFFEC-8585-393C-BB87-860BDAC7BBA0}"/>
              </a:ext>
            </a:extLst>
          </p:cNvPr>
          <p:cNvSpPr txBox="1"/>
          <p:nvPr/>
        </p:nvSpPr>
        <p:spPr>
          <a:xfrm>
            <a:off x="134210" y="3181618"/>
            <a:ext cx="7113918" cy="1384995"/>
          </a:xfrm>
          <a:prstGeom prst="rect">
            <a:avLst/>
          </a:prstGeom>
          <a:noFill/>
        </p:spPr>
        <p:txBody>
          <a:bodyPr wrap="square" rtlCol="0">
            <a:spAutoFit/>
          </a:bodyPr>
          <a:lstStyle/>
          <a:p>
            <a:r>
              <a:rPr lang="en-IN" sz="2800" b="1" dirty="0">
                <a:solidFill>
                  <a:schemeClr val="bg1"/>
                </a:solidFill>
                <a:latin typeface="Segoe UI Black" panose="020B0A02040204020203" pitchFamily="34" charset="0"/>
                <a:ea typeface="Segoe UI Black" panose="020B0A02040204020203" pitchFamily="34" charset="0"/>
              </a:rPr>
              <a:t>AI-Based Retail Inventory Forecasting System</a:t>
            </a:r>
          </a:p>
          <a:p>
            <a:endParaRPr lang="en-IN" sz="2800" b="1" dirty="0">
              <a:solidFill>
                <a:schemeClr val="bg1"/>
              </a:solidFill>
            </a:endParaRPr>
          </a:p>
        </p:txBody>
      </p:sp>
      <p:pic>
        <p:nvPicPr>
          <p:cNvPr id="14" name="Picture 13" descr="A close-up of a logo&#10;&#10;AI-generated content may be incorrect.">
            <a:extLst>
              <a:ext uri="{FF2B5EF4-FFF2-40B4-BE49-F238E27FC236}">
                <a16:creationId xmlns:a16="http://schemas.microsoft.com/office/drawing/2014/main" id="{21DABB02-444A-7235-0A54-59CF3776D7E0}"/>
              </a:ext>
            </a:extLst>
          </p:cNvPr>
          <p:cNvPicPr>
            <a:picLocks noChangeAspect="1"/>
          </p:cNvPicPr>
          <p:nvPr/>
        </p:nvPicPr>
        <p:blipFill>
          <a:blip r:embed="rId4">
            <a:extLst>
              <a:ext uri="{28A0092B-C50C-407E-A947-70E740481C1C}">
                <a14:useLocalDpi xmlns:a14="http://schemas.microsoft.com/office/drawing/2010/main" val="0"/>
              </a:ext>
            </a:extLst>
          </a:blip>
          <a:srcRect t="26057" b="25454"/>
          <a:stretch>
            <a:fillRect/>
          </a:stretch>
        </p:blipFill>
        <p:spPr>
          <a:xfrm>
            <a:off x="10514485" y="297602"/>
            <a:ext cx="1438096" cy="3950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635999-5925-6957-4AD2-35E97ED3BFEA}"/>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F0B0071F-756C-BDE2-E476-EDA484DC9151}"/>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C0CD792-9706-9CD9-9896-416C068E1EE7}"/>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Team Members </a:t>
            </a:r>
          </a:p>
        </p:txBody>
      </p:sp>
      <p:sp>
        <p:nvSpPr>
          <p:cNvPr id="5" name="AutoShape 2" descr="Generated image">
            <a:extLst>
              <a:ext uri="{FF2B5EF4-FFF2-40B4-BE49-F238E27FC236}">
                <a16:creationId xmlns:a16="http://schemas.microsoft.com/office/drawing/2014/main" id="{3E304D08-98D9-C4C9-86E4-45FF80024C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Rounded Corners 5">
            <a:extLst>
              <a:ext uri="{FF2B5EF4-FFF2-40B4-BE49-F238E27FC236}">
                <a16:creationId xmlns:a16="http://schemas.microsoft.com/office/drawing/2014/main" id="{8FC675B6-286B-512D-2946-D7BDC9FD65B8}"/>
              </a:ext>
            </a:extLst>
          </p:cNvPr>
          <p:cNvSpPr/>
          <p:nvPr/>
        </p:nvSpPr>
        <p:spPr>
          <a:xfrm>
            <a:off x="479377" y="1327145"/>
            <a:ext cx="11358346" cy="5284499"/>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49C343A-0AC2-18FC-7A93-24773604AB39}"/>
              </a:ext>
            </a:extLst>
          </p:cNvPr>
          <p:cNvSpPr txBox="1"/>
          <p:nvPr/>
        </p:nvSpPr>
        <p:spPr>
          <a:xfrm>
            <a:off x="623392" y="1628800"/>
            <a:ext cx="10729192" cy="4154984"/>
          </a:xfrm>
          <a:prstGeom prst="rect">
            <a:avLst/>
          </a:prstGeom>
          <a:noFill/>
        </p:spPr>
        <p:txBody>
          <a:bodyPr wrap="square" rtlCol="0">
            <a:spAutoFit/>
          </a:bodyPr>
          <a:lstStyle/>
          <a:p>
            <a:r>
              <a:rPr lang="en-IN" sz="2400" dirty="0">
                <a:solidFill>
                  <a:schemeClr val="bg2"/>
                </a:solidFill>
                <a:latin typeface="Segoe UI Black" panose="020B0A02040204020203" pitchFamily="34" charset="0"/>
                <a:ea typeface="Segoe UI Black" panose="020B0A02040204020203" pitchFamily="34" charset="0"/>
              </a:rPr>
              <a:t> </a:t>
            </a:r>
          </a:p>
          <a:p>
            <a:pPr marL="285750" indent="-285750">
              <a:buFont typeface="Arial" panose="020B0604020202020204" pitchFamily="34" charset="0"/>
              <a:buChar char="•"/>
            </a:pPr>
            <a:r>
              <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rPr>
              <a:t>SAKSHI </a:t>
            </a:r>
          </a:p>
          <a:p>
            <a:pPr marL="285750" indent="-285750">
              <a:buFont typeface="Arial" panose="020B0604020202020204" pitchFamily="34" charset="0"/>
              <a:buChar char="•"/>
            </a:pPr>
            <a:endPar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pPr marL="285750" indent="-285750">
              <a:buFont typeface="Arial" panose="020B0604020202020204" pitchFamily="34" charset="0"/>
              <a:buChar char="•"/>
            </a:pPr>
            <a:r>
              <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rPr>
              <a:t>BHAKTHI S P</a:t>
            </a:r>
          </a:p>
          <a:p>
            <a:pPr marL="285750" indent="-285750">
              <a:buFont typeface="Arial" panose="020B0604020202020204" pitchFamily="34" charset="0"/>
              <a:buChar char="•"/>
            </a:pPr>
            <a:endPar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pPr marL="285750" indent="-285750">
              <a:buFont typeface="Arial" panose="020B0604020202020204" pitchFamily="34" charset="0"/>
              <a:buChar char="•"/>
            </a:pPr>
            <a:r>
              <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rPr>
              <a:t>ARAVINDA    </a:t>
            </a:r>
          </a:p>
          <a:p>
            <a:endPar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pPr marL="285750" indent="-285750">
              <a:buFont typeface="Arial" panose="020B0604020202020204" pitchFamily="34" charset="0"/>
              <a:buChar char="•"/>
            </a:pPr>
            <a:r>
              <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rPr>
              <a:t>CHARISHMA</a:t>
            </a:r>
          </a:p>
          <a:p>
            <a:endPar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pPr marL="285750" indent="-285750">
              <a:buFont typeface="Arial" panose="020B0604020202020204" pitchFamily="34" charset="0"/>
              <a:buChar char="•"/>
            </a:pPr>
            <a:r>
              <a:rPr lang="en-IN" sz="2400" b="1" dirty="0">
                <a:solidFill>
                  <a:schemeClr val="bg2"/>
                </a:solidFill>
                <a:latin typeface="Segoe UI" panose="020B0502040204020203" pitchFamily="34" charset="0"/>
                <a:ea typeface="Segoe UI Black" panose="020B0A02040204020203" pitchFamily="34" charset="0"/>
                <a:cs typeface="Segoe UI" panose="020B0502040204020203" pitchFamily="34" charset="0"/>
              </a:rPr>
              <a:t>CHANNABASAVA</a:t>
            </a:r>
          </a:p>
          <a:p>
            <a:endParaRPr lang="en-IN" sz="2400" b="1" dirty="0">
              <a:solidFill>
                <a:schemeClr val="bg1"/>
              </a:solidFill>
              <a:latin typeface="Segoe UI" panose="020B0502040204020203" pitchFamily="34" charset="0"/>
              <a:cs typeface="Segoe UI" panose="020B0502040204020203" pitchFamily="34" charset="0"/>
            </a:endParaRPr>
          </a:p>
        </p:txBody>
      </p:sp>
      <p:pic>
        <p:nvPicPr>
          <p:cNvPr id="11" name="Picture 10" descr="A close-up of a logo&#10;&#10;AI-generated content may be incorrect.">
            <a:extLst>
              <a:ext uri="{FF2B5EF4-FFF2-40B4-BE49-F238E27FC236}">
                <a16:creationId xmlns:a16="http://schemas.microsoft.com/office/drawing/2014/main" id="{565AD857-A4E3-8B1E-1968-680934F9A6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3547"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TextBox 3">
            <a:extLst>
              <a:ext uri="{FF2B5EF4-FFF2-40B4-BE49-F238E27FC236}">
                <a16:creationId xmlns:a16="http://schemas.microsoft.com/office/drawing/2014/main" id="{4564F1E8-9867-6F8D-0CCA-824A312DEA76}"/>
              </a:ext>
            </a:extLst>
          </p:cNvPr>
          <p:cNvSpPr txBox="1"/>
          <p:nvPr/>
        </p:nvSpPr>
        <p:spPr>
          <a:xfrm>
            <a:off x="4215752" y="1952646"/>
            <a:ext cx="7803409" cy="1200329"/>
          </a:xfrm>
          <a:prstGeom prst="rect">
            <a:avLst/>
          </a:prstGeom>
          <a:noFill/>
        </p:spPr>
        <p:txBody>
          <a:bodyPr wrap="square" rtlCol="0">
            <a:spAutoFit/>
          </a:bodyPr>
          <a:lstStyle/>
          <a:p>
            <a:r>
              <a:rPr lang="en-US" dirty="0">
                <a:solidFill>
                  <a:schemeClr val="bg2"/>
                </a:solidFill>
                <a:latin typeface="Segoe UI" panose="020B0502040204020203" pitchFamily="34" charset="0"/>
                <a:ea typeface="Segoe UI Black" panose="020B0A02040204020203" pitchFamily="34" charset="0"/>
                <a:cs typeface="Segoe UI" panose="020B0502040204020203" pitchFamily="34" charset="0"/>
              </a:rPr>
              <a:t>Developed the front-end, back-end functionalities, integrated the    chatbot, and coordinated overall system development.</a:t>
            </a:r>
            <a:endParaRPr lang="en-IN"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pPr marL="285750" indent="-285750">
              <a:buFont typeface="Arial" panose="020B0604020202020204" pitchFamily="34" charset="0"/>
              <a:buChar char="•"/>
            </a:pPr>
            <a:endParaRPr lang="en-IN" b="1" dirty="0">
              <a:solidFill>
                <a:schemeClr val="bg2"/>
              </a:solidFill>
              <a:latin typeface="Segoe UI" panose="020B0502040204020203" pitchFamily="34" charset="0"/>
              <a:ea typeface="Segoe UI Black" panose="020B0A02040204020203" pitchFamily="34" charset="0"/>
              <a:cs typeface="Segoe UI" panose="020B0502040204020203" pitchFamily="34" charset="0"/>
            </a:endParaRPr>
          </a:p>
          <a:p>
            <a:endParaRPr lang="en-IN" dirty="0"/>
          </a:p>
        </p:txBody>
      </p:sp>
      <p:sp>
        <p:nvSpPr>
          <p:cNvPr id="8" name="TextBox 7">
            <a:extLst>
              <a:ext uri="{FF2B5EF4-FFF2-40B4-BE49-F238E27FC236}">
                <a16:creationId xmlns:a16="http://schemas.microsoft.com/office/drawing/2014/main" id="{C418EE84-6639-B229-2621-6FED9877D8B2}"/>
              </a:ext>
            </a:extLst>
          </p:cNvPr>
          <p:cNvSpPr txBox="1"/>
          <p:nvPr/>
        </p:nvSpPr>
        <p:spPr>
          <a:xfrm>
            <a:off x="4215752" y="2699451"/>
            <a:ext cx="7621971" cy="646331"/>
          </a:xfrm>
          <a:prstGeom prst="rect">
            <a:avLst/>
          </a:prstGeom>
          <a:noFill/>
        </p:spPr>
        <p:txBody>
          <a:bodyPr wrap="square" rtlCol="0">
            <a:spAutoFit/>
          </a:bodyPr>
          <a:lstStyle/>
          <a:p>
            <a:r>
              <a:rPr lang="en-US" dirty="0">
                <a:solidFill>
                  <a:schemeClr val="bg2"/>
                </a:solidFill>
              </a:rPr>
              <a:t>Implemented back-end logic for overstock and understock </a:t>
            </a:r>
            <a:r>
              <a:rPr lang="en-US" dirty="0" err="1">
                <a:solidFill>
                  <a:schemeClr val="bg2"/>
                </a:solidFill>
              </a:rPr>
              <a:t>inventory.including</a:t>
            </a:r>
            <a:r>
              <a:rPr lang="en-US" dirty="0">
                <a:solidFill>
                  <a:schemeClr val="bg2"/>
                </a:solidFill>
              </a:rPr>
              <a:t>   admin and manager login authentication and role-based access.</a:t>
            </a:r>
            <a:endParaRPr lang="en-IN" dirty="0">
              <a:solidFill>
                <a:schemeClr val="bg2"/>
              </a:solidFill>
            </a:endParaRPr>
          </a:p>
        </p:txBody>
      </p:sp>
      <p:sp>
        <p:nvSpPr>
          <p:cNvPr id="9" name="TextBox 8">
            <a:extLst>
              <a:ext uri="{FF2B5EF4-FFF2-40B4-BE49-F238E27FC236}">
                <a16:creationId xmlns:a16="http://schemas.microsoft.com/office/drawing/2014/main" id="{BB54E3BE-438B-68C8-4D23-92632427A719}"/>
              </a:ext>
            </a:extLst>
          </p:cNvPr>
          <p:cNvSpPr txBox="1"/>
          <p:nvPr/>
        </p:nvSpPr>
        <p:spPr>
          <a:xfrm>
            <a:off x="4215752" y="3414964"/>
            <a:ext cx="6984776" cy="646331"/>
          </a:xfrm>
          <a:prstGeom prst="rect">
            <a:avLst/>
          </a:prstGeom>
          <a:noFill/>
        </p:spPr>
        <p:txBody>
          <a:bodyPr wrap="square" rtlCol="0">
            <a:spAutoFit/>
          </a:bodyPr>
          <a:lstStyle/>
          <a:p>
            <a:r>
              <a:rPr lang="en-US" dirty="0">
                <a:solidFill>
                  <a:schemeClr val="bg2"/>
                </a:solidFill>
              </a:rPr>
              <a:t>Developed the cities and stores management module for multi-location inventory tracking.</a:t>
            </a:r>
            <a:endParaRPr lang="en-IN" dirty="0">
              <a:solidFill>
                <a:schemeClr val="bg2"/>
              </a:solidFill>
            </a:endParaRPr>
          </a:p>
        </p:txBody>
      </p:sp>
      <p:sp>
        <p:nvSpPr>
          <p:cNvPr id="10" name="TextBox 9">
            <a:extLst>
              <a:ext uri="{FF2B5EF4-FFF2-40B4-BE49-F238E27FC236}">
                <a16:creationId xmlns:a16="http://schemas.microsoft.com/office/drawing/2014/main" id="{7B91221C-94C9-AE60-8766-C0774CDA6052}"/>
              </a:ext>
            </a:extLst>
          </p:cNvPr>
          <p:cNvSpPr txBox="1"/>
          <p:nvPr/>
        </p:nvSpPr>
        <p:spPr>
          <a:xfrm>
            <a:off x="4219877" y="4221088"/>
            <a:ext cx="6624736" cy="369332"/>
          </a:xfrm>
          <a:prstGeom prst="rect">
            <a:avLst/>
          </a:prstGeom>
          <a:noFill/>
        </p:spPr>
        <p:txBody>
          <a:bodyPr wrap="square" rtlCol="0">
            <a:spAutoFit/>
          </a:bodyPr>
          <a:lstStyle/>
          <a:p>
            <a:r>
              <a:rPr lang="en-US" dirty="0">
                <a:solidFill>
                  <a:schemeClr val="bg2"/>
                </a:solidFill>
              </a:rPr>
              <a:t>Managed the SQLite database and prepared documents.</a:t>
            </a:r>
            <a:endParaRPr lang="en-IN" dirty="0">
              <a:solidFill>
                <a:schemeClr val="bg2"/>
              </a:solidFill>
            </a:endParaRPr>
          </a:p>
        </p:txBody>
      </p:sp>
      <p:sp>
        <p:nvSpPr>
          <p:cNvPr id="12" name="TextBox 11">
            <a:extLst>
              <a:ext uri="{FF2B5EF4-FFF2-40B4-BE49-F238E27FC236}">
                <a16:creationId xmlns:a16="http://schemas.microsoft.com/office/drawing/2014/main" id="{4823E3E7-C6E2-1463-6B38-57395E0D178B}"/>
              </a:ext>
            </a:extLst>
          </p:cNvPr>
          <p:cNvSpPr txBox="1"/>
          <p:nvPr/>
        </p:nvSpPr>
        <p:spPr>
          <a:xfrm>
            <a:off x="4231656" y="4906034"/>
            <a:ext cx="5768680" cy="646331"/>
          </a:xfrm>
          <a:prstGeom prst="rect">
            <a:avLst/>
          </a:prstGeom>
          <a:noFill/>
        </p:spPr>
        <p:txBody>
          <a:bodyPr wrap="square" rtlCol="0">
            <a:spAutoFit/>
          </a:bodyPr>
          <a:lstStyle/>
          <a:p>
            <a:r>
              <a:rPr lang="en-US" dirty="0">
                <a:solidFill>
                  <a:schemeClr val="bg2"/>
                </a:solidFill>
              </a:rPr>
              <a:t>Created the project report and </a:t>
            </a:r>
            <a:r>
              <a:rPr lang="en-US" dirty="0" err="1">
                <a:solidFill>
                  <a:schemeClr val="bg2"/>
                </a:solidFill>
              </a:rPr>
              <a:t>and</a:t>
            </a:r>
            <a:r>
              <a:rPr lang="en-US" dirty="0">
                <a:solidFill>
                  <a:schemeClr val="bg2"/>
                </a:solidFill>
              </a:rPr>
              <a:t> assisted with supporting project tasks.</a:t>
            </a:r>
            <a:endParaRPr lang="en-IN" dirty="0">
              <a:solidFill>
                <a:schemeClr val="bg2"/>
              </a:solidFill>
            </a:endParaRPr>
          </a:p>
        </p:txBody>
      </p:sp>
      <p:sp>
        <p:nvSpPr>
          <p:cNvPr id="13" name="Arrow: Right 12">
            <a:extLst>
              <a:ext uri="{FF2B5EF4-FFF2-40B4-BE49-F238E27FC236}">
                <a16:creationId xmlns:a16="http://schemas.microsoft.com/office/drawing/2014/main" id="{4105BAA4-3729-6450-7437-46AC44EF0EE3}"/>
              </a:ext>
            </a:extLst>
          </p:cNvPr>
          <p:cNvSpPr/>
          <p:nvPr/>
        </p:nvSpPr>
        <p:spPr>
          <a:xfrm>
            <a:off x="3761056" y="2138627"/>
            <a:ext cx="15489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B212D70-E769-C11E-D924-B9C2B0B2CAE1}"/>
              </a:ext>
            </a:extLst>
          </p:cNvPr>
          <p:cNvSpPr/>
          <p:nvPr/>
        </p:nvSpPr>
        <p:spPr>
          <a:xfrm>
            <a:off x="3751184" y="2917262"/>
            <a:ext cx="15489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DB221A19-C8B3-3E36-C6EC-0B349AFF401B}"/>
              </a:ext>
            </a:extLst>
          </p:cNvPr>
          <p:cNvSpPr/>
          <p:nvPr/>
        </p:nvSpPr>
        <p:spPr>
          <a:xfrm>
            <a:off x="3751184" y="3581400"/>
            <a:ext cx="15489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2EA45D93-D66F-E61C-6D9D-075E7629E216}"/>
              </a:ext>
            </a:extLst>
          </p:cNvPr>
          <p:cNvSpPr/>
          <p:nvPr/>
        </p:nvSpPr>
        <p:spPr>
          <a:xfrm>
            <a:off x="3751183" y="4405754"/>
            <a:ext cx="15489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2B4F50EC-CE29-F717-31CE-78DAD0190F07}"/>
              </a:ext>
            </a:extLst>
          </p:cNvPr>
          <p:cNvSpPr/>
          <p:nvPr/>
        </p:nvSpPr>
        <p:spPr>
          <a:xfrm>
            <a:off x="3761056" y="5094769"/>
            <a:ext cx="154893" cy="457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37675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34886"/>
            <a:ext cx="12360696" cy="7027998"/>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575720" y="495787"/>
            <a:ext cx="4134867"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Problem Statement</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6D4AECA1-172C-B6DE-6546-BFA19F0F5B70}"/>
              </a:ext>
            </a:extLst>
          </p:cNvPr>
          <p:cNvSpPr txBox="1"/>
          <p:nvPr/>
        </p:nvSpPr>
        <p:spPr>
          <a:xfrm>
            <a:off x="6690263" y="2530395"/>
            <a:ext cx="4824535" cy="3831818"/>
          </a:xfrm>
          <a:prstGeom prst="rect">
            <a:avLst/>
          </a:prstGeom>
          <a:noFill/>
        </p:spPr>
        <p:txBody>
          <a:bodyPr wrap="square" rtlCol="0">
            <a:spAutoFit/>
          </a:bodyPr>
          <a:lstStyle/>
          <a:p>
            <a:r>
              <a:rPr lang="en-US" sz="1700" b="1" dirty="0">
                <a:solidFill>
                  <a:schemeClr val="bg1"/>
                </a:solidFill>
              </a:rPr>
              <a:t>Lack of Real-Time Inventory Visibility</a:t>
            </a:r>
            <a:br>
              <a:rPr lang="en-US" sz="1600" dirty="0">
                <a:solidFill>
                  <a:schemeClr val="bg1"/>
                </a:solidFill>
              </a:rPr>
            </a:br>
            <a:r>
              <a:rPr lang="en-US" sz="1600" dirty="0">
                <a:solidFill>
                  <a:schemeClr val="bg1"/>
                </a:solidFill>
              </a:rPr>
              <a:t>Manual tracking and delayed updates cause stockouts, overstock, and no unified view of inventory.</a:t>
            </a:r>
          </a:p>
          <a:p>
            <a:endParaRPr lang="en-US" sz="1600" dirty="0">
              <a:solidFill>
                <a:schemeClr val="bg1"/>
              </a:solidFill>
            </a:endParaRPr>
          </a:p>
          <a:p>
            <a:r>
              <a:rPr lang="en-US" sz="1700" b="1" dirty="0">
                <a:solidFill>
                  <a:schemeClr val="bg1"/>
                </a:solidFill>
              </a:rPr>
              <a:t>Inaccurate Demand Prediction</a:t>
            </a:r>
            <a:br>
              <a:rPr lang="en-US" sz="1600" dirty="0">
                <a:solidFill>
                  <a:schemeClr val="bg1"/>
                </a:solidFill>
              </a:rPr>
            </a:br>
            <a:r>
              <a:rPr lang="en-US" sz="1600" dirty="0">
                <a:solidFill>
                  <a:schemeClr val="bg1"/>
                </a:solidFill>
              </a:rPr>
              <a:t>Traditional methods struggle with large datasets like FreshRetail50K, leading to poor forecasts and inventory loss.</a:t>
            </a:r>
          </a:p>
          <a:p>
            <a:endParaRPr lang="en-US" sz="1600" dirty="0">
              <a:solidFill>
                <a:schemeClr val="bg1"/>
              </a:solidFill>
            </a:endParaRPr>
          </a:p>
          <a:p>
            <a:r>
              <a:rPr lang="en-US" sz="1700" b="1" dirty="0">
                <a:solidFill>
                  <a:schemeClr val="bg1"/>
                </a:solidFill>
              </a:rPr>
              <a:t>Operational Inefficiencies Across Multiple Stores</a:t>
            </a:r>
            <a:br>
              <a:rPr lang="en-US" sz="1600" dirty="0">
                <a:solidFill>
                  <a:schemeClr val="bg1"/>
                </a:solidFill>
              </a:rPr>
            </a:br>
            <a:r>
              <a:rPr lang="en-US" sz="1600" dirty="0">
                <a:solidFill>
                  <a:schemeClr val="bg1"/>
                </a:solidFill>
              </a:rPr>
              <a:t>No automated alerts and slow data sync increase storage costs and reduce customer satisfaction.</a:t>
            </a: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a:p>
            <a:pPr marL="285750" indent="-285750">
              <a:buFont typeface="Arial" panose="020B0604020202020204" pitchFamily="34" charset="0"/>
              <a:buChar char="•"/>
            </a:pPr>
            <a:endParaRPr lang="en-US" sz="1600" b="1" dirty="0">
              <a:solidFill>
                <a:schemeClr val="bg1"/>
              </a:solidFill>
            </a:endParaRPr>
          </a:p>
        </p:txBody>
      </p:sp>
      <p:pic>
        <p:nvPicPr>
          <p:cNvPr id="13" name="Picture 12" descr="Businessperson on a computer">
            <a:extLst>
              <a:ext uri="{FF2B5EF4-FFF2-40B4-BE49-F238E27FC236}">
                <a16:creationId xmlns:a16="http://schemas.microsoft.com/office/drawing/2014/main" id="{9CFE5F64-5860-EC56-DD6C-F95FFDBDFB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5648" y="1785312"/>
            <a:ext cx="5400352" cy="4655834"/>
          </a:xfrm>
          <a:prstGeom prst="ellipse">
            <a:avLst/>
          </a:prstGeom>
          <a:ln>
            <a:noFill/>
          </a:ln>
          <a:effectLst>
            <a:softEdge rad="112500"/>
          </a:effectLst>
        </p:spPr>
      </p:pic>
      <p:sp>
        <p:nvSpPr>
          <p:cNvPr id="5" name="TextBox 4">
            <a:extLst>
              <a:ext uri="{FF2B5EF4-FFF2-40B4-BE49-F238E27FC236}">
                <a16:creationId xmlns:a16="http://schemas.microsoft.com/office/drawing/2014/main" id="{FE05D5DA-7519-5EB3-BD21-C66A462840F6}"/>
              </a:ext>
            </a:extLst>
          </p:cNvPr>
          <p:cNvSpPr txBox="1"/>
          <p:nvPr/>
        </p:nvSpPr>
        <p:spPr>
          <a:xfrm>
            <a:off x="12072664" y="6441146"/>
            <a:ext cx="119336" cy="369332"/>
          </a:xfrm>
          <a:prstGeom prst="rect">
            <a:avLst/>
          </a:prstGeom>
          <a:noFill/>
        </p:spPr>
        <p:txBody>
          <a:bodyPr wrap="square" rtlCol="0">
            <a:spAutoFit/>
          </a:bodyPr>
          <a:lstStyle/>
          <a:p>
            <a:r>
              <a:rPr lang="en-IN" dirty="0"/>
              <a:t>2</a:t>
            </a:r>
          </a:p>
        </p:txBody>
      </p:sp>
      <p:pic>
        <p:nvPicPr>
          <p:cNvPr id="8" name="Picture 7" descr="A close-up of a logo&#10;&#10;AI-generated content may be incorrect.">
            <a:extLst>
              <a:ext uri="{FF2B5EF4-FFF2-40B4-BE49-F238E27FC236}">
                <a16:creationId xmlns:a16="http://schemas.microsoft.com/office/drawing/2014/main" id="{FF9B5264-8AA4-DFF0-3174-DE2776422FB0}"/>
              </a:ext>
            </a:extLst>
          </p:cNvPr>
          <p:cNvPicPr>
            <a:picLocks noChangeAspect="1"/>
          </p:cNvPicPr>
          <p:nvPr/>
        </p:nvPicPr>
        <p:blipFill>
          <a:blip r:embed="rId4">
            <a:extLst>
              <a:ext uri="{28A0092B-C50C-407E-A947-70E740481C1C}">
                <a14:useLocalDpi xmlns:a14="http://schemas.microsoft.com/office/drawing/2010/main" val="0"/>
              </a:ext>
            </a:extLst>
          </a:blip>
          <a:srcRect l="18500" t="24800" r="18500" b="24800"/>
          <a:stretch>
            <a:fillRect/>
          </a:stretch>
        </p:blipFill>
        <p:spPr>
          <a:xfrm>
            <a:off x="10746006" y="404664"/>
            <a:ext cx="768792" cy="38439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653061" y="495787"/>
            <a:ext cx="3575386"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Core Objectives</a:t>
            </a:r>
            <a:endParaRPr sz="3600" b="1" dirty="0">
              <a:solidFill>
                <a:srgbClr val="FFFFFF"/>
              </a:solidFill>
              <a:latin typeface="OQWKHA+SegoeUI-Bold"/>
              <a:cs typeface="OQWKHA+SegoeUI-Bold"/>
            </a:endParaRPr>
          </a:p>
        </p:txBody>
      </p:sp>
      <p:sp>
        <p:nvSpPr>
          <p:cNvPr id="4" name="object 4"/>
          <p:cNvSpPr txBox="1"/>
          <p:nvPr/>
        </p:nvSpPr>
        <p:spPr>
          <a:xfrm>
            <a:off x="10521080" y="605056"/>
            <a:ext cx="1291626" cy="581099"/>
          </a:xfrm>
          <a:prstGeom prst="rect">
            <a:avLst/>
          </a:prstGeom>
        </p:spPr>
        <p:txBody>
          <a:bodyPr vert="horz" wrap="square" lIns="0" tIns="0" rIns="0" bIns="0" rtlCol="0">
            <a:spAutoFit/>
          </a:bodyPr>
          <a:lstStyle/>
          <a:p>
            <a:pPr marL="0" marR="0">
              <a:lnSpc>
                <a:spcPts val="1875"/>
              </a:lnSpc>
              <a:spcBef>
                <a:spcPts val="0"/>
              </a:spcBef>
              <a:spcAft>
                <a:spcPts val="0"/>
              </a:spcAft>
            </a:pPr>
            <a:r>
              <a:rPr sz="1800" b="1" dirty="0">
                <a:solidFill>
                  <a:srgbClr val="262626"/>
                </a:solidFill>
                <a:latin typeface="OQWKHA+SegoeUI-Bold"/>
                <a:cs typeface="OQWKHA+SegoeUI-Bold"/>
              </a:rPr>
              <a:t>AI Agent</a:t>
            </a:r>
          </a:p>
        </p:txBody>
      </p:sp>
      <p:sp>
        <p:nvSpPr>
          <p:cNvPr id="5" name="object 5"/>
          <p:cNvSpPr txBox="1"/>
          <p:nvPr/>
        </p:nvSpPr>
        <p:spPr>
          <a:xfrm>
            <a:off x="2063552" y="2402026"/>
            <a:ext cx="2854729" cy="243656"/>
          </a:xfrm>
          <a:prstGeom prst="rect">
            <a:avLst/>
          </a:prstGeom>
        </p:spPr>
        <p:txBody>
          <a:bodyPr vert="horz" wrap="square" lIns="0" tIns="0" rIns="0" bIns="0" rtlCol="0">
            <a:spAutoFit/>
          </a:bodyPr>
          <a:lstStyle/>
          <a:p>
            <a:pPr>
              <a:lnSpc>
                <a:spcPts val="1875"/>
              </a:lnSpc>
            </a:pPr>
            <a:r>
              <a:rPr lang="en-IN" b="1" dirty="0">
                <a:solidFill>
                  <a:srgbClr val="FFFFFF"/>
                </a:solidFill>
                <a:latin typeface="OQWKHA+SegoeUI-Bold"/>
                <a:cs typeface="OQWKHA+SegoeUI-Bold"/>
              </a:rPr>
              <a:t>      Primary Objective</a:t>
            </a:r>
            <a:endParaRPr sz="1800" b="1" dirty="0">
              <a:solidFill>
                <a:srgbClr val="FFFFFF"/>
              </a:solidFill>
              <a:latin typeface="OQWKHA+SegoeUI-Bold"/>
              <a:cs typeface="OQWKHA+SegoeUI-Bold"/>
            </a:endParaRPr>
          </a:p>
        </p:txBody>
      </p:sp>
      <p:sp>
        <p:nvSpPr>
          <p:cNvPr id="6" name="object 6"/>
          <p:cNvSpPr txBox="1"/>
          <p:nvPr/>
        </p:nvSpPr>
        <p:spPr>
          <a:xfrm>
            <a:off x="6720415" y="2402026"/>
            <a:ext cx="5015880"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      Machine Learning &amp; Forecasting</a:t>
            </a:r>
            <a:endParaRPr sz="1800" b="1" dirty="0">
              <a:solidFill>
                <a:schemeClr val="bg1"/>
              </a:solidFill>
              <a:latin typeface="OQWKHA+SegoeUI-Bold" panose="020B0604020202020204"/>
              <a:cs typeface="OQWKHA+SegoeUI-Bold"/>
            </a:endParaRPr>
          </a:p>
        </p:txBody>
      </p:sp>
      <p:sp>
        <p:nvSpPr>
          <p:cNvPr id="7" name="object 7"/>
          <p:cNvSpPr txBox="1"/>
          <p:nvPr/>
        </p:nvSpPr>
        <p:spPr>
          <a:xfrm>
            <a:off x="1545779" y="2762841"/>
            <a:ext cx="3890273" cy="738664"/>
          </a:xfrm>
          <a:prstGeom prst="rect">
            <a:avLst/>
          </a:prstGeom>
        </p:spPr>
        <p:txBody>
          <a:bodyPr vert="horz" wrap="square" lIns="0" tIns="0" rIns="0" bIns="0" rtlCol="0">
            <a:spAutoFit/>
          </a:bodyPr>
          <a:lstStyle/>
          <a:p>
            <a:pPr algn="ctr"/>
            <a:r>
              <a:rPr lang="en-IN" sz="1600" dirty="0">
                <a:solidFill>
                  <a:schemeClr val="bg1"/>
                </a:solidFill>
                <a:latin typeface="HGTTST+SegoeUI" panose="020B0604020202020204"/>
              </a:rPr>
              <a:t>To develop an inventory optimization system that predicts product demand and monitors stock in real time.</a:t>
            </a:r>
          </a:p>
        </p:txBody>
      </p:sp>
      <p:sp>
        <p:nvSpPr>
          <p:cNvPr id="8" name="object 8"/>
          <p:cNvSpPr txBox="1"/>
          <p:nvPr/>
        </p:nvSpPr>
        <p:spPr>
          <a:xfrm>
            <a:off x="6663633" y="2823963"/>
            <a:ext cx="4278183" cy="654025"/>
          </a:xfrm>
          <a:prstGeom prst="rect">
            <a:avLst/>
          </a:prstGeom>
        </p:spPr>
        <p:txBody>
          <a:bodyPr vert="horz" wrap="square" lIns="0" tIns="0" rIns="0" bIns="0" rtlCol="0">
            <a:spAutoFit/>
          </a:bodyPr>
          <a:lstStyle/>
          <a:p>
            <a:pPr algn="ctr">
              <a:lnSpc>
                <a:spcPts val="1667"/>
              </a:lnSpc>
            </a:pPr>
            <a:r>
              <a:rPr lang="en-US" sz="1600" dirty="0">
                <a:solidFill>
                  <a:srgbClr val="FFFFFF"/>
                </a:solidFill>
                <a:latin typeface="HGTTST+SegoeUI" panose="020B0604020202020204"/>
              </a:rPr>
              <a:t>Implement </a:t>
            </a:r>
            <a:r>
              <a:rPr lang="en-IN" sz="1600" dirty="0" err="1">
                <a:solidFill>
                  <a:schemeClr val="bg1"/>
                </a:solidFill>
                <a:latin typeface="HGTTST+SegoeUI" panose="020B0604020202020204"/>
              </a:rPr>
              <a:t>GBoost</a:t>
            </a:r>
            <a:r>
              <a:rPr lang="en-IN" sz="1600" dirty="0">
                <a:solidFill>
                  <a:schemeClr val="bg1"/>
                </a:solidFill>
                <a:latin typeface="HGTTST+SegoeUI" panose="020B0604020202020204"/>
              </a:rPr>
              <a:t>-based sales forecasting.</a:t>
            </a:r>
          </a:p>
          <a:p>
            <a:pPr algn="ctr">
              <a:lnSpc>
                <a:spcPts val="1667"/>
              </a:lnSpc>
            </a:pPr>
            <a:r>
              <a:rPr lang="en-IN" sz="1600" dirty="0">
                <a:solidFill>
                  <a:schemeClr val="bg1"/>
                </a:solidFill>
                <a:latin typeface="HGTTST+SegoeUI" panose="020B0604020202020204"/>
              </a:rPr>
              <a:t>Develop real-time inventory dashboard.</a:t>
            </a:r>
          </a:p>
          <a:p>
            <a:pPr algn="ctr">
              <a:lnSpc>
                <a:spcPts val="1667"/>
              </a:lnSpc>
            </a:pPr>
            <a:endParaRPr sz="1600" dirty="0">
              <a:solidFill>
                <a:srgbClr val="FFFFFF"/>
              </a:solidFill>
              <a:latin typeface="HGTTST+SegoeUI" panose="020B0604020202020204"/>
              <a:cs typeface="HGTTST+SegoeUI"/>
            </a:endParaRPr>
          </a:p>
        </p:txBody>
      </p:sp>
      <p:sp>
        <p:nvSpPr>
          <p:cNvPr id="9" name="object 9"/>
          <p:cNvSpPr txBox="1"/>
          <p:nvPr/>
        </p:nvSpPr>
        <p:spPr>
          <a:xfrm>
            <a:off x="1847528" y="4746037"/>
            <a:ext cx="4031311" cy="243656"/>
          </a:xfrm>
          <a:prstGeom prst="rect">
            <a:avLst/>
          </a:prstGeom>
        </p:spPr>
        <p:txBody>
          <a:bodyPr vert="horz" wrap="square" lIns="0" tIns="0" rIns="0" bIns="0" rtlCol="0">
            <a:spAutoFit/>
          </a:bodyPr>
          <a:lstStyle/>
          <a:p>
            <a:pPr>
              <a:lnSpc>
                <a:spcPts val="1875"/>
              </a:lnSpc>
            </a:pPr>
            <a:r>
              <a:rPr lang="en-IN" b="1" dirty="0">
                <a:solidFill>
                  <a:schemeClr val="bg1"/>
                </a:solidFill>
                <a:latin typeface="OQWKHA+SegoeUI-Bold" panose="020B0604020202020204"/>
              </a:rPr>
              <a:t>Backend Development &amp; APIs</a:t>
            </a:r>
            <a:endParaRPr sz="1800" b="1" dirty="0">
              <a:solidFill>
                <a:schemeClr val="bg1"/>
              </a:solidFill>
              <a:latin typeface="OQWKHA+SegoeUI-Bold" panose="020B0604020202020204"/>
              <a:cs typeface="OQWKHA+SegoeUI-Bold"/>
            </a:endParaRPr>
          </a:p>
        </p:txBody>
      </p:sp>
      <p:sp>
        <p:nvSpPr>
          <p:cNvPr id="10" name="object 10"/>
          <p:cNvSpPr txBox="1"/>
          <p:nvPr/>
        </p:nvSpPr>
        <p:spPr>
          <a:xfrm>
            <a:off x="6897950" y="4674841"/>
            <a:ext cx="3599263" cy="243656"/>
          </a:xfrm>
          <a:prstGeom prst="rect">
            <a:avLst/>
          </a:prstGeom>
        </p:spPr>
        <p:txBody>
          <a:bodyPr vert="horz" wrap="square" lIns="0" tIns="0" rIns="0" bIns="0" rtlCol="0">
            <a:spAutoFit/>
          </a:bodyPr>
          <a:lstStyle/>
          <a:p>
            <a:pPr algn="ctr">
              <a:lnSpc>
                <a:spcPts val="1875"/>
              </a:lnSpc>
            </a:pPr>
            <a:r>
              <a:rPr lang="en-IN" b="1" dirty="0">
                <a:solidFill>
                  <a:schemeClr val="bg1"/>
                </a:solidFill>
                <a:latin typeface="OQWKHA+SegoeUI-Bold" panose="020B0604020202020204"/>
              </a:rPr>
              <a:t> User Management</a:t>
            </a:r>
            <a:endParaRPr sz="1800" b="1" dirty="0">
              <a:solidFill>
                <a:schemeClr val="bg1"/>
              </a:solidFill>
              <a:latin typeface="OQWKHA+SegoeUI-Bold" panose="020B0604020202020204"/>
              <a:cs typeface="OQWKHA+SegoeUI-Bold"/>
            </a:endParaRPr>
          </a:p>
        </p:txBody>
      </p:sp>
      <p:sp>
        <p:nvSpPr>
          <p:cNvPr id="11" name="object 11"/>
          <p:cNvSpPr txBox="1"/>
          <p:nvPr/>
        </p:nvSpPr>
        <p:spPr>
          <a:xfrm>
            <a:off x="1327857" y="5076327"/>
            <a:ext cx="4108309" cy="441018"/>
          </a:xfrm>
          <a:prstGeom prst="rect">
            <a:avLst/>
          </a:prstGeom>
        </p:spPr>
        <p:txBody>
          <a:bodyPr vert="horz" wrap="square" lIns="0" tIns="0" rIns="0" bIns="0" rtlCol="0">
            <a:spAutoFit/>
          </a:bodyPr>
          <a:lstStyle/>
          <a:p>
            <a:pPr marL="223043" marR="0" algn="ctr">
              <a:lnSpc>
                <a:spcPts val="1667"/>
              </a:lnSpc>
              <a:spcBef>
                <a:spcPts val="0"/>
              </a:spcBef>
              <a:spcAft>
                <a:spcPts val="0"/>
              </a:spcAft>
            </a:pPr>
            <a:r>
              <a:rPr lang="en-IN" sz="1600" dirty="0">
                <a:solidFill>
                  <a:schemeClr val="bg1"/>
                </a:solidFill>
                <a:latin typeface="HGTTST+SegoeUI" panose="020B0604020202020204"/>
              </a:rPr>
              <a:t>Build Node.js REST APIs.</a:t>
            </a:r>
          </a:p>
          <a:p>
            <a:pPr marL="223043" marR="0" algn="ctr">
              <a:lnSpc>
                <a:spcPts val="1667"/>
              </a:lnSpc>
              <a:spcBef>
                <a:spcPts val="0"/>
              </a:spcBef>
              <a:spcAft>
                <a:spcPts val="0"/>
              </a:spcAft>
            </a:pPr>
            <a:r>
              <a:rPr lang="en-IN" sz="1600" dirty="0">
                <a:solidFill>
                  <a:schemeClr val="bg1"/>
                </a:solidFill>
                <a:latin typeface="HGTTST+SegoeUI" panose="020B0604020202020204"/>
              </a:rPr>
              <a:t>Integrate </a:t>
            </a:r>
            <a:r>
              <a:rPr lang="en-IN" sz="1600" dirty="0" err="1">
                <a:solidFill>
                  <a:schemeClr val="bg1"/>
                </a:solidFill>
                <a:latin typeface="HGTTST+SegoeUI" panose="020B0604020202020204"/>
              </a:rPr>
              <a:t>Sqlite</a:t>
            </a:r>
            <a:r>
              <a:rPr lang="en-IN" sz="1600" dirty="0">
                <a:solidFill>
                  <a:schemeClr val="bg1"/>
                </a:solidFill>
                <a:latin typeface="HGTTST+SegoeUI" panose="020B0604020202020204"/>
              </a:rPr>
              <a:t> database.</a:t>
            </a:r>
            <a:endParaRPr sz="1600" dirty="0">
              <a:solidFill>
                <a:schemeClr val="bg1"/>
              </a:solidFill>
              <a:latin typeface="HGTTST+SegoeUI" panose="020B0604020202020204"/>
              <a:cs typeface="HGTTST+SegoeUI"/>
            </a:endParaRPr>
          </a:p>
        </p:txBody>
      </p:sp>
      <p:sp>
        <p:nvSpPr>
          <p:cNvPr id="12" name="object 12"/>
          <p:cNvSpPr txBox="1"/>
          <p:nvPr/>
        </p:nvSpPr>
        <p:spPr>
          <a:xfrm>
            <a:off x="6665105" y="5082038"/>
            <a:ext cx="4212763" cy="654025"/>
          </a:xfrm>
          <a:prstGeom prst="rect">
            <a:avLst/>
          </a:prstGeom>
        </p:spPr>
        <p:txBody>
          <a:bodyPr vert="horz" wrap="square" lIns="0" tIns="0" rIns="0" bIns="0" rtlCol="0">
            <a:spAutoFit/>
          </a:bodyPr>
          <a:lstStyle/>
          <a:p>
            <a:pPr algn="ctr">
              <a:lnSpc>
                <a:spcPts val="1667"/>
              </a:lnSpc>
            </a:pPr>
            <a:r>
              <a:rPr lang="en-US" sz="1600" dirty="0">
                <a:solidFill>
                  <a:schemeClr val="bg1"/>
                </a:solidFill>
                <a:latin typeface="HGTTST+SegoeUI" panose="020B0604020202020204"/>
              </a:rPr>
              <a:t>Enable Admin and Store Manager authentication.</a:t>
            </a:r>
          </a:p>
          <a:p>
            <a:pPr algn="ctr">
              <a:lnSpc>
                <a:spcPts val="1667"/>
              </a:lnSpc>
            </a:pPr>
            <a:r>
              <a:rPr lang="en-US" sz="1600" dirty="0">
                <a:solidFill>
                  <a:schemeClr val="bg1"/>
                </a:solidFill>
                <a:latin typeface="HGTTST+SegoeUI" panose="020B0604020202020204"/>
              </a:rPr>
              <a:t>   Deploy the system on Render cloud.</a:t>
            </a:r>
            <a:endParaRPr sz="1600" dirty="0">
              <a:solidFill>
                <a:schemeClr val="bg1"/>
              </a:solidFill>
              <a:latin typeface="HGTTST+SegoeUI" panose="020B0604020202020204"/>
              <a:cs typeface="HGTTST+SegoeUI"/>
            </a:endParaRPr>
          </a:p>
        </p:txBody>
      </p:sp>
      <p:sp>
        <p:nvSpPr>
          <p:cNvPr id="14" name="TextBox 13">
            <a:extLst>
              <a:ext uri="{FF2B5EF4-FFF2-40B4-BE49-F238E27FC236}">
                <a16:creationId xmlns:a16="http://schemas.microsoft.com/office/drawing/2014/main" id="{0567B6FD-DA42-90F6-A911-F1CFE20B406C}"/>
              </a:ext>
            </a:extLst>
          </p:cNvPr>
          <p:cNvSpPr txBox="1"/>
          <p:nvPr/>
        </p:nvSpPr>
        <p:spPr>
          <a:xfrm>
            <a:off x="11736295" y="6381328"/>
            <a:ext cx="264361" cy="369332"/>
          </a:xfrm>
          <a:prstGeom prst="rect">
            <a:avLst/>
          </a:prstGeom>
          <a:noFill/>
        </p:spPr>
        <p:txBody>
          <a:bodyPr wrap="square" rtlCol="0">
            <a:spAutoFit/>
          </a:bodyPr>
          <a:lstStyle/>
          <a:p>
            <a:r>
              <a:rPr lang="en-IN" dirty="0"/>
              <a:t>3</a:t>
            </a:r>
          </a:p>
        </p:txBody>
      </p:sp>
      <p:pic>
        <p:nvPicPr>
          <p:cNvPr id="21" name="Picture 20" descr="A close-up of a logo&#10;&#10;AI-generated content may be incorrect.">
            <a:extLst>
              <a:ext uri="{FF2B5EF4-FFF2-40B4-BE49-F238E27FC236}">
                <a16:creationId xmlns:a16="http://schemas.microsoft.com/office/drawing/2014/main" id="{69550C34-48C1-FA30-32A8-5EAB9C2FAB4C}"/>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549938"/>
            <a:ext cx="1172353" cy="36950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3480544" y="463801"/>
            <a:ext cx="5207743"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Dataset – Random</a:t>
            </a:r>
            <a:endParaRPr sz="3600" b="1" dirty="0">
              <a:solidFill>
                <a:srgbClr val="FFFFFF"/>
              </a:solidFill>
              <a:latin typeface="OQWKHA+SegoeUI-Bold"/>
              <a:cs typeface="OQWKHA+SegoeUI-Bold"/>
            </a:endParaRPr>
          </a:p>
        </p:txBody>
      </p:sp>
      <p:sp>
        <p:nvSpPr>
          <p:cNvPr id="5" name="object 5"/>
          <p:cNvSpPr txBox="1"/>
          <p:nvPr/>
        </p:nvSpPr>
        <p:spPr>
          <a:xfrm>
            <a:off x="547991" y="2325134"/>
            <a:ext cx="527099" cy="4041354"/>
          </a:xfrm>
          <a:prstGeom prst="rect">
            <a:avLst/>
          </a:prstGeom>
        </p:spPr>
        <p:txBody>
          <a:bodyPr vert="horz" wrap="square" lIns="0" tIns="0" rIns="0" bIns="0" rtlCol="0">
            <a:spAutoFit/>
          </a:bodyPr>
          <a:lstStyle/>
          <a:p>
            <a:pPr marL="0" marR="0">
              <a:lnSpc>
                <a:spcPts val="2083"/>
              </a:lnSpc>
              <a:spcBef>
                <a:spcPts val="0"/>
              </a:spcBef>
              <a:spcAft>
                <a:spcPts val="0"/>
              </a:spcAft>
            </a:pPr>
            <a:r>
              <a:rPr sz="2000" b="1" dirty="0">
                <a:solidFill>
                  <a:srgbClr val="00B0F0"/>
                </a:solidFill>
                <a:latin typeface="OQWKHA+SegoeUI-Bold"/>
                <a:cs typeface="OQWKHA+SegoeUI-Bold"/>
              </a:rPr>
              <a:t>1</a:t>
            </a:r>
          </a:p>
          <a:p>
            <a:pPr marL="0" marR="0">
              <a:lnSpc>
                <a:spcPts val="2083"/>
              </a:lnSpc>
              <a:spcBef>
                <a:spcPts val="11284"/>
              </a:spcBef>
              <a:spcAft>
                <a:spcPts val="0"/>
              </a:spcAft>
            </a:pPr>
            <a:r>
              <a:rPr sz="2000" b="1" dirty="0">
                <a:solidFill>
                  <a:srgbClr val="00B0F0"/>
                </a:solidFill>
                <a:latin typeface="OQWKHA+SegoeUI-Bold"/>
                <a:cs typeface="OQWKHA+SegoeUI-Bold"/>
              </a:rPr>
              <a:t>2</a:t>
            </a:r>
          </a:p>
          <a:p>
            <a:pPr marL="0" marR="0">
              <a:lnSpc>
                <a:spcPts val="2083"/>
              </a:lnSpc>
              <a:spcBef>
                <a:spcPts val="11234"/>
              </a:spcBef>
              <a:spcAft>
                <a:spcPts val="0"/>
              </a:spcAft>
            </a:pPr>
            <a:r>
              <a:rPr sz="2000" b="1" dirty="0">
                <a:solidFill>
                  <a:srgbClr val="00B0F0"/>
                </a:solidFill>
                <a:latin typeface="OQWKHA+SegoeUI-Bold"/>
                <a:cs typeface="OQWKHA+SegoeUI-Bold"/>
              </a:rPr>
              <a:t>3</a:t>
            </a:r>
          </a:p>
        </p:txBody>
      </p:sp>
      <p:sp>
        <p:nvSpPr>
          <p:cNvPr id="12" name="Rectangle: Rounded Corners 11">
            <a:extLst>
              <a:ext uri="{FF2B5EF4-FFF2-40B4-BE49-F238E27FC236}">
                <a16:creationId xmlns:a16="http://schemas.microsoft.com/office/drawing/2014/main" id="{D79C2986-0A15-3C41-5562-C91F68E364E5}"/>
              </a:ext>
            </a:extLst>
          </p:cNvPr>
          <p:cNvSpPr/>
          <p:nvPr/>
        </p:nvSpPr>
        <p:spPr>
          <a:xfrm>
            <a:off x="10200456" y="463801"/>
            <a:ext cx="1584176" cy="487313"/>
          </a:xfrm>
          <a:prstGeom prst="roundRect">
            <a:avLst/>
          </a:prstGeom>
          <a:solidFill>
            <a:schemeClr val="tx2">
              <a:lumMod val="40000"/>
              <a:lumOff val="6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EEB9988-995B-E3D7-3289-E12C2E6D4BB7}"/>
              </a:ext>
            </a:extLst>
          </p:cNvPr>
          <p:cNvSpPr txBox="1"/>
          <p:nvPr/>
        </p:nvSpPr>
        <p:spPr>
          <a:xfrm>
            <a:off x="11856640" y="6453336"/>
            <a:ext cx="720080" cy="369332"/>
          </a:xfrm>
          <a:prstGeom prst="rect">
            <a:avLst/>
          </a:prstGeom>
          <a:noFill/>
        </p:spPr>
        <p:txBody>
          <a:bodyPr wrap="square" rtlCol="0">
            <a:spAutoFit/>
          </a:bodyPr>
          <a:lstStyle/>
          <a:p>
            <a:r>
              <a:rPr lang="en-IN" dirty="0"/>
              <a:t>4</a:t>
            </a:r>
          </a:p>
        </p:txBody>
      </p:sp>
      <p:sp>
        <p:nvSpPr>
          <p:cNvPr id="14" name="TextBox 13">
            <a:extLst>
              <a:ext uri="{FF2B5EF4-FFF2-40B4-BE49-F238E27FC236}">
                <a16:creationId xmlns:a16="http://schemas.microsoft.com/office/drawing/2014/main" id="{B61C4923-25FB-3565-802B-2ED170E9B37C}"/>
              </a:ext>
            </a:extLst>
          </p:cNvPr>
          <p:cNvSpPr txBox="1"/>
          <p:nvPr/>
        </p:nvSpPr>
        <p:spPr>
          <a:xfrm>
            <a:off x="1075090" y="1988840"/>
            <a:ext cx="4711191" cy="923330"/>
          </a:xfrm>
          <a:prstGeom prst="rect">
            <a:avLst/>
          </a:prstGeom>
          <a:noFill/>
        </p:spPr>
        <p:txBody>
          <a:bodyPr wrap="square" rtlCol="0">
            <a:spAutoFit/>
          </a:bodyPr>
          <a:lstStyle/>
          <a:p>
            <a:r>
              <a:rPr lang="en-US" b="1" dirty="0">
                <a:solidFill>
                  <a:schemeClr val="bg1"/>
                </a:solidFill>
              </a:rPr>
              <a:t>Medium-Scale Retail Data:</a:t>
            </a:r>
            <a:r>
              <a:rPr lang="en-US" dirty="0">
                <a:solidFill>
                  <a:schemeClr val="bg1"/>
                </a:solidFill>
              </a:rPr>
              <a:t> </a:t>
            </a:r>
          </a:p>
          <a:p>
            <a:pPr algn="just"/>
            <a:r>
              <a:rPr lang="en-US" dirty="0">
                <a:solidFill>
                  <a:schemeClr val="bg1"/>
                </a:solidFill>
              </a:rPr>
              <a:t>Contains 50+ records of daily sales, stock, and store information across multiple cities.</a:t>
            </a:r>
            <a:endParaRPr lang="en-IN" dirty="0">
              <a:solidFill>
                <a:schemeClr val="bg1"/>
              </a:solidFill>
            </a:endParaRPr>
          </a:p>
        </p:txBody>
      </p:sp>
      <p:sp>
        <p:nvSpPr>
          <p:cNvPr id="15" name="TextBox 14">
            <a:extLst>
              <a:ext uri="{FF2B5EF4-FFF2-40B4-BE49-F238E27FC236}">
                <a16:creationId xmlns:a16="http://schemas.microsoft.com/office/drawing/2014/main" id="{CB52EB19-676D-95E8-A2DC-B803FE58CD7E}"/>
              </a:ext>
            </a:extLst>
          </p:cNvPr>
          <p:cNvSpPr txBox="1"/>
          <p:nvPr/>
        </p:nvSpPr>
        <p:spPr>
          <a:xfrm>
            <a:off x="1055292" y="3687708"/>
            <a:ext cx="4880842" cy="923330"/>
          </a:xfrm>
          <a:prstGeom prst="rect">
            <a:avLst/>
          </a:prstGeom>
          <a:noFill/>
        </p:spPr>
        <p:txBody>
          <a:bodyPr wrap="square" rtlCol="0">
            <a:spAutoFit/>
          </a:bodyPr>
          <a:lstStyle/>
          <a:p>
            <a:r>
              <a:rPr lang="en-US" b="1" dirty="0">
                <a:solidFill>
                  <a:schemeClr val="bg1"/>
                </a:solidFill>
              </a:rPr>
              <a:t>Time-Series Format</a:t>
            </a:r>
            <a:r>
              <a:rPr lang="en-US" dirty="0">
                <a:solidFill>
                  <a:schemeClr val="bg1"/>
                </a:solidFill>
              </a:rPr>
              <a:t>: </a:t>
            </a:r>
          </a:p>
          <a:p>
            <a:pPr algn="just"/>
            <a:r>
              <a:rPr lang="en-US" dirty="0">
                <a:solidFill>
                  <a:schemeClr val="bg1"/>
                </a:solidFill>
              </a:rPr>
              <a:t>Includes historical sales, stock levels, discounts, and holiday/activity flags for demand forecasting.</a:t>
            </a:r>
            <a:endParaRPr lang="en-IN" dirty="0">
              <a:solidFill>
                <a:schemeClr val="bg1"/>
              </a:solidFill>
            </a:endParaRPr>
          </a:p>
        </p:txBody>
      </p:sp>
      <p:sp>
        <p:nvSpPr>
          <p:cNvPr id="16" name="TextBox 15">
            <a:extLst>
              <a:ext uri="{FF2B5EF4-FFF2-40B4-BE49-F238E27FC236}">
                <a16:creationId xmlns:a16="http://schemas.microsoft.com/office/drawing/2014/main" id="{5009BBDB-359C-38B7-C850-113064D1113C}"/>
              </a:ext>
            </a:extLst>
          </p:cNvPr>
          <p:cNvSpPr txBox="1"/>
          <p:nvPr/>
        </p:nvSpPr>
        <p:spPr>
          <a:xfrm>
            <a:off x="1019362" y="5241185"/>
            <a:ext cx="4972500" cy="1477328"/>
          </a:xfrm>
          <a:prstGeom prst="rect">
            <a:avLst/>
          </a:prstGeom>
          <a:noFill/>
        </p:spPr>
        <p:txBody>
          <a:bodyPr wrap="square" rtlCol="0">
            <a:spAutoFit/>
          </a:bodyPr>
          <a:lstStyle/>
          <a:p>
            <a:r>
              <a:rPr lang="en-US" b="1" dirty="0">
                <a:solidFill>
                  <a:schemeClr val="bg1"/>
                </a:solidFill>
              </a:rPr>
              <a:t>Challenges:</a:t>
            </a:r>
            <a:r>
              <a:rPr lang="en-US" dirty="0">
                <a:solidFill>
                  <a:schemeClr val="bg1"/>
                </a:solidFill>
              </a:rPr>
              <a:t> </a:t>
            </a:r>
          </a:p>
          <a:p>
            <a:pPr algn="just"/>
            <a:r>
              <a:rPr lang="en-US" dirty="0">
                <a:solidFill>
                  <a:schemeClr val="bg1"/>
                </a:solidFill>
              </a:rPr>
              <a:t>High volume and complexity make manual analysis difficult, requiring ML models like </a:t>
            </a:r>
            <a:r>
              <a:rPr lang="en-US" dirty="0" err="1">
                <a:solidFill>
                  <a:schemeClr val="bg1"/>
                </a:solidFill>
              </a:rPr>
              <a:t>XGBoost</a:t>
            </a:r>
            <a:r>
              <a:rPr lang="en-US" dirty="0">
                <a:solidFill>
                  <a:schemeClr val="bg1"/>
                </a:solidFill>
              </a:rPr>
              <a:t> for accurate predictions.</a:t>
            </a:r>
          </a:p>
          <a:p>
            <a:endParaRPr lang="en-IN" dirty="0">
              <a:solidFill>
                <a:schemeClr val="bg1"/>
              </a:solidFill>
            </a:endParaRPr>
          </a:p>
        </p:txBody>
      </p:sp>
      <p:pic>
        <p:nvPicPr>
          <p:cNvPr id="27" name="Picture 26">
            <a:extLst>
              <a:ext uri="{FF2B5EF4-FFF2-40B4-BE49-F238E27FC236}">
                <a16:creationId xmlns:a16="http://schemas.microsoft.com/office/drawing/2014/main" id="{5A61A486-FC5A-5486-EA7B-ACD9C2C79F62}"/>
              </a:ext>
            </a:extLst>
          </p:cNvPr>
          <p:cNvPicPr>
            <a:picLocks noChangeAspect="1"/>
          </p:cNvPicPr>
          <p:nvPr/>
        </p:nvPicPr>
        <p:blipFill>
          <a:blip r:embed="rId3">
            <a:extLst>
              <a:ext uri="{28A0092B-C50C-407E-A947-70E740481C1C}">
                <a14:useLocalDpi xmlns:a14="http://schemas.microsoft.com/office/drawing/2010/main" val="0"/>
              </a:ext>
            </a:extLst>
          </a:blip>
          <a:srcRect t="25567" b="25453"/>
          <a:stretch>
            <a:fillRect/>
          </a:stretch>
        </p:blipFill>
        <p:spPr>
          <a:xfrm>
            <a:off x="10192384" y="463801"/>
            <a:ext cx="1584176" cy="4849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554417" y="396594"/>
            <a:ext cx="3312951"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Key Features</a:t>
            </a:r>
            <a:endParaRPr sz="3600" b="1" dirty="0">
              <a:solidFill>
                <a:srgbClr val="FFFFFF"/>
              </a:solidFill>
              <a:latin typeface="OQWKHA+SegoeUI-Bold"/>
              <a:cs typeface="OQWKHA+SegoeUI-Bold"/>
            </a:endParaRPr>
          </a:p>
        </p:txBody>
      </p:sp>
      <p:sp>
        <p:nvSpPr>
          <p:cNvPr id="7" name="TextBox 6">
            <a:extLst>
              <a:ext uri="{FF2B5EF4-FFF2-40B4-BE49-F238E27FC236}">
                <a16:creationId xmlns:a16="http://schemas.microsoft.com/office/drawing/2014/main" id="{DB4CE6DA-5D50-4800-A360-E09F91FB027E}"/>
              </a:ext>
            </a:extLst>
          </p:cNvPr>
          <p:cNvSpPr txBox="1"/>
          <p:nvPr/>
        </p:nvSpPr>
        <p:spPr>
          <a:xfrm>
            <a:off x="3863752" y="1556792"/>
            <a:ext cx="8472264" cy="3016210"/>
          </a:xfrm>
          <a:prstGeom prst="rect">
            <a:avLst/>
          </a:prstGeom>
          <a:noFill/>
        </p:spPr>
        <p:txBody>
          <a:bodyPr wrap="square" rtlCol="0">
            <a:spAutoFit/>
          </a:bodyPr>
          <a:lstStyle/>
          <a:p>
            <a:pPr marL="285750" indent="-285750">
              <a:buFont typeface="Arial" panose="020B0604020202020204" pitchFamily="34" charset="0"/>
              <a:buChar char="•"/>
            </a:pPr>
            <a:r>
              <a:rPr lang="en-US" sz="1900" b="1" dirty="0">
                <a:solidFill>
                  <a:schemeClr val="bg2"/>
                </a:solidFill>
              </a:rPr>
              <a:t>AI-based Sales Forecasting</a:t>
            </a:r>
            <a:r>
              <a:rPr lang="en-US" sz="1900" dirty="0">
                <a:solidFill>
                  <a:schemeClr val="bg2"/>
                </a:solidFill>
              </a:rPr>
              <a:t> – using </a:t>
            </a:r>
            <a:r>
              <a:rPr lang="en-US" sz="1900" dirty="0" err="1">
                <a:solidFill>
                  <a:schemeClr val="bg2"/>
                </a:solidFill>
              </a:rPr>
              <a:t>XGBoost</a:t>
            </a:r>
            <a:r>
              <a:rPr lang="en-US" sz="1900" dirty="0">
                <a:solidFill>
                  <a:schemeClr val="bg2"/>
                </a:solidFill>
              </a:rPr>
              <a:t> to predict future demand per store</a:t>
            </a:r>
          </a:p>
          <a:p>
            <a:pPr marL="285750" indent="-285750">
              <a:buFont typeface="Arial" panose="020B0604020202020204" pitchFamily="34" charset="0"/>
              <a:buChar char="•"/>
            </a:pPr>
            <a:r>
              <a:rPr lang="en-US" sz="1900" b="1" dirty="0">
                <a:solidFill>
                  <a:schemeClr val="bg2"/>
                </a:solidFill>
              </a:rPr>
              <a:t>Real-time Inventory Tracking</a:t>
            </a:r>
            <a:r>
              <a:rPr lang="en-US" sz="1900" dirty="0">
                <a:solidFill>
                  <a:schemeClr val="bg2"/>
                </a:solidFill>
              </a:rPr>
              <a:t> – monitor stock levels across multiple stores and cities</a:t>
            </a:r>
          </a:p>
          <a:p>
            <a:pPr marL="285750" indent="-285750">
              <a:buFont typeface="Arial" panose="020B0604020202020204" pitchFamily="34" charset="0"/>
              <a:buChar char="•"/>
            </a:pPr>
            <a:r>
              <a:rPr lang="en-US" sz="1900" b="1" dirty="0">
                <a:solidFill>
                  <a:schemeClr val="bg2"/>
                </a:solidFill>
              </a:rPr>
              <a:t>Automated Alerts</a:t>
            </a:r>
            <a:r>
              <a:rPr lang="en-US" sz="1900" dirty="0">
                <a:solidFill>
                  <a:schemeClr val="bg2"/>
                </a:solidFill>
              </a:rPr>
              <a:t> – notifications for understock and overstock items</a:t>
            </a:r>
          </a:p>
          <a:p>
            <a:pPr marL="285750" indent="-285750">
              <a:buFont typeface="Arial" panose="020B0604020202020204" pitchFamily="34" charset="0"/>
              <a:buChar char="•"/>
            </a:pPr>
            <a:r>
              <a:rPr lang="en-US" sz="1900" b="1" dirty="0">
                <a:solidFill>
                  <a:schemeClr val="bg2"/>
                </a:solidFill>
              </a:rPr>
              <a:t>Role-based Authentication</a:t>
            </a:r>
            <a:r>
              <a:rPr lang="en-US" sz="1900" dirty="0">
                <a:solidFill>
                  <a:schemeClr val="bg2"/>
                </a:solidFill>
              </a:rPr>
              <a:t> – Admin &amp; Manager access control</a:t>
            </a:r>
          </a:p>
          <a:p>
            <a:pPr marL="285750" indent="-285750">
              <a:buFont typeface="Arial" panose="020B0604020202020204" pitchFamily="34" charset="0"/>
              <a:buChar char="•"/>
            </a:pPr>
            <a:r>
              <a:rPr lang="en-US" sz="1900" b="1" dirty="0">
                <a:solidFill>
                  <a:schemeClr val="bg2"/>
                </a:solidFill>
              </a:rPr>
              <a:t>Interactive Dashboard</a:t>
            </a:r>
            <a:r>
              <a:rPr lang="en-US" sz="1900" dirty="0">
                <a:solidFill>
                  <a:schemeClr val="bg2"/>
                </a:solidFill>
              </a:rPr>
              <a:t> – displays stock levels, forecasts, and insights</a:t>
            </a:r>
          </a:p>
          <a:p>
            <a:pPr marL="285750" indent="-285750">
              <a:buFont typeface="Arial" panose="020B0604020202020204" pitchFamily="34" charset="0"/>
              <a:buChar char="•"/>
            </a:pPr>
            <a:r>
              <a:rPr lang="en-US" sz="1900" b="1" dirty="0">
                <a:solidFill>
                  <a:schemeClr val="bg2"/>
                </a:solidFill>
              </a:rPr>
              <a:t>Analytics &amp; Reports</a:t>
            </a:r>
            <a:r>
              <a:rPr lang="en-US" sz="1900" dirty="0">
                <a:solidFill>
                  <a:schemeClr val="bg2"/>
                </a:solidFill>
              </a:rPr>
              <a:t> – visualize sales trends, category performance, inventory turnover, and more</a:t>
            </a:r>
          </a:p>
          <a:p>
            <a:pPr marL="285750" indent="-285750">
              <a:buFont typeface="Arial" panose="020B0604020202020204" pitchFamily="34" charset="0"/>
              <a:buChar char="•"/>
            </a:pPr>
            <a:r>
              <a:rPr lang="en-US" sz="1900" b="1" dirty="0">
                <a:solidFill>
                  <a:schemeClr val="bg2"/>
                </a:solidFill>
              </a:rPr>
              <a:t>AI Chatbot Assistant</a:t>
            </a:r>
            <a:r>
              <a:rPr lang="en-US" sz="1900" dirty="0">
                <a:solidFill>
                  <a:schemeClr val="bg2"/>
                </a:solidFill>
              </a:rPr>
              <a:t> – provides quick inventory insights and recommendations</a:t>
            </a:r>
          </a:p>
          <a:p>
            <a:endParaRPr lang="en-IN" sz="1900" dirty="0">
              <a:solidFill>
                <a:schemeClr val="bg1"/>
              </a:solidFill>
            </a:endParaRPr>
          </a:p>
        </p:txBody>
      </p:sp>
      <p:pic>
        <p:nvPicPr>
          <p:cNvPr id="9" name="Picture 8" descr="A close-up of a logo&#10;&#10;AI-generated content may be incorrect.">
            <a:extLst>
              <a:ext uri="{FF2B5EF4-FFF2-40B4-BE49-F238E27FC236}">
                <a16:creationId xmlns:a16="http://schemas.microsoft.com/office/drawing/2014/main" id="{34C74B18-64E9-D650-79DD-A65B65748A7A}"/>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494611"/>
            <a:ext cx="1172353" cy="3892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4990306" y="495787"/>
            <a:ext cx="2896344" cy="487313"/>
          </a:xfrm>
          <a:prstGeom prst="rect">
            <a:avLst/>
          </a:prstGeom>
        </p:spPr>
        <p:txBody>
          <a:bodyPr vert="horz" wrap="square" lIns="0" tIns="0" rIns="0" bIns="0" rtlCol="0">
            <a:spAutoFit/>
          </a:bodyPr>
          <a:lstStyle/>
          <a:p>
            <a:pPr marL="0" marR="0">
              <a:lnSpc>
                <a:spcPts val="3751"/>
              </a:lnSpc>
              <a:spcBef>
                <a:spcPts val="0"/>
              </a:spcBef>
              <a:spcAft>
                <a:spcPts val="0"/>
              </a:spcAft>
            </a:pPr>
            <a:endParaRPr sz="3600" b="1" dirty="0">
              <a:solidFill>
                <a:srgbClr val="FFFFFF"/>
              </a:solidFill>
              <a:latin typeface="OQWKHA+SegoeUI-Bold"/>
              <a:cs typeface="OQWKHA+SegoeUI-Bold"/>
            </a:endParaRPr>
          </a:p>
        </p:txBody>
      </p:sp>
      <p:sp>
        <p:nvSpPr>
          <p:cNvPr id="13" name="TextBox 12">
            <a:extLst>
              <a:ext uri="{FF2B5EF4-FFF2-40B4-BE49-F238E27FC236}">
                <a16:creationId xmlns:a16="http://schemas.microsoft.com/office/drawing/2014/main" id="{1459766F-66C6-0005-6358-495AFF664157}"/>
              </a:ext>
            </a:extLst>
          </p:cNvPr>
          <p:cNvSpPr txBox="1"/>
          <p:nvPr/>
        </p:nvSpPr>
        <p:spPr>
          <a:xfrm>
            <a:off x="1919536" y="329419"/>
            <a:ext cx="7776864" cy="579646"/>
          </a:xfrm>
          <a:prstGeom prst="rect">
            <a:avLst/>
          </a:prstGeom>
          <a:noFill/>
        </p:spPr>
        <p:txBody>
          <a:bodyPr wrap="square" rtlCol="0">
            <a:spAutoFit/>
          </a:bodyPr>
          <a:lstStyle/>
          <a:p>
            <a:pPr algn="ctr">
              <a:lnSpc>
                <a:spcPts val="3751"/>
              </a:lnSpc>
            </a:pPr>
            <a:r>
              <a:rPr lang="en-IN" sz="3600" b="1" dirty="0">
                <a:solidFill>
                  <a:srgbClr val="FFFFFF"/>
                </a:solidFill>
                <a:latin typeface="OQWKHA+SegoeUI-Bold"/>
                <a:cs typeface="OQWKHA+SegoeUI-Bold"/>
              </a:rPr>
              <a:t>Tools and Technologies</a:t>
            </a:r>
          </a:p>
        </p:txBody>
      </p:sp>
      <p:sp>
        <p:nvSpPr>
          <p:cNvPr id="11" name="TextBox 10">
            <a:extLst>
              <a:ext uri="{FF2B5EF4-FFF2-40B4-BE49-F238E27FC236}">
                <a16:creationId xmlns:a16="http://schemas.microsoft.com/office/drawing/2014/main" id="{E6970971-A835-F211-FBF4-AD8288CB25E7}"/>
              </a:ext>
            </a:extLst>
          </p:cNvPr>
          <p:cNvSpPr txBox="1"/>
          <p:nvPr/>
        </p:nvSpPr>
        <p:spPr>
          <a:xfrm>
            <a:off x="6818760" y="1870111"/>
            <a:ext cx="5303912" cy="400110"/>
          </a:xfrm>
          <a:prstGeom prst="rect">
            <a:avLst/>
          </a:prstGeom>
          <a:noFill/>
        </p:spPr>
        <p:txBody>
          <a:bodyPr wrap="square" rtlCol="0">
            <a:spAutoFit/>
          </a:bodyPr>
          <a:lstStyle/>
          <a:p>
            <a:endParaRPr lang="en-IN" sz="2000" dirty="0">
              <a:solidFill>
                <a:schemeClr val="bg2"/>
              </a:solidFill>
            </a:endParaRPr>
          </a:p>
        </p:txBody>
      </p:sp>
      <p:sp>
        <p:nvSpPr>
          <p:cNvPr id="15" name="TextBox 14">
            <a:extLst>
              <a:ext uri="{FF2B5EF4-FFF2-40B4-BE49-F238E27FC236}">
                <a16:creationId xmlns:a16="http://schemas.microsoft.com/office/drawing/2014/main" id="{33AA032A-53DA-C0A4-B2CB-8DF5ED192484}"/>
              </a:ext>
            </a:extLst>
          </p:cNvPr>
          <p:cNvSpPr txBox="1"/>
          <p:nvPr/>
        </p:nvSpPr>
        <p:spPr>
          <a:xfrm>
            <a:off x="6858779" y="2548190"/>
            <a:ext cx="5263893" cy="400110"/>
          </a:xfrm>
          <a:prstGeom prst="rect">
            <a:avLst/>
          </a:prstGeom>
          <a:noFill/>
        </p:spPr>
        <p:txBody>
          <a:bodyPr wrap="square" rtlCol="0">
            <a:spAutoFit/>
          </a:bodyPr>
          <a:lstStyle/>
          <a:p>
            <a:endParaRPr lang="en-IN" sz="2000" dirty="0">
              <a:solidFill>
                <a:schemeClr val="bg2"/>
              </a:solidFill>
            </a:endParaRPr>
          </a:p>
        </p:txBody>
      </p:sp>
      <p:sp>
        <p:nvSpPr>
          <p:cNvPr id="18" name="TextBox 17">
            <a:extLst>
              <a:ext uri="{FF2B5EF4-FFF2-40B4-BE49-F238E27FC236}">
                <a16:creationId xmlns:a16="http://schemas.microsoft.com/office/drawing/2014/main" id="{C2A01B80-B8E4-70D2-150D-826A41793315}"/>
              </a:ext>
            </a:extLst>
          </p:cNvPr>
          <p:cNvSpPr txBox="1"/>
          <p:nvPr/>
        </p:nvSpPr>
        <p:spPr>
          <a:xfrm>
            <a:off x="6858779" y="3157232"/>
            <a:ext cx="4176464" cy="400110"/>
          </a:xfrm>
          <a:prstGeom prst="rect">
            <a:avLst/>
          </a:prstGeom>
          <a:noFill/>
        </p:spPr>
        <p:txBody>
          <a:bodyPr wrap="square" rtlCol="0">
            <a:spAutoFit/>
          </a:bodyPr>
          <a:lstStyle/>
          <a:p>
            <a:endParaRPr lang="en-IN" sz="2000" dirty="0">
              <a:solidFill>
                <a:schemeClr val="bg2"/>
              </a:solidFill>
            </a:endParaRPr>
          </a:p>
        </p:txBody>
      </p:sp>
      <p:sp>
        <p:nvSpPr>
          <p:cNvPr id="21" name="TextBox 20">
            <a:extLst>
              <a:ext uri="{FF2B5EF4-FFF2-40B4-BE49-F238E27FC236}">
                <a16:creationId xmlns:a16="http://schemas.microsoft.com/office/drawing/2014/main" id="{B4483C97-7331-1B2D-BB91-3837B9AEA66F}"/>
              </a:ext>
            </a:extLst>
          </p:cNvPr>
          <p:cNvSpPr txBox="1"/>
          <p:nvPr/>
        </p:nvSpPr>
        <p:spPr>
          <a:xfrm>
            <a:off x="6843710" y="3780709"/>
            <a:ext cx="4824536" cy="400110"/>
          </a:xfrm>
          <a:prstGeom prst="rect">
            <a:avLst/>
          </a:prstGeom>
          <a:noFill/>
        </p:spPr>
        <p:txBody>
          <a:bodyPr wrap="square" rtlCol="0">
            <a:spAutoFit/>
          </a:bodyPr>
          <a:lstStyle/>
          <a:p>
            <a:endParaRPr lang="en-IN" sz="2000" dirty="0">
              <a:solidFill>
                <a:schemeClr val="bg2"/>
              </a:solidFill>
            </a:endParaRPr>
          </a:p>
        </p:txBody>
      </p:sp>
      <p:sp>
        <p:nvSpPr>
          <p:cNvPr id="24" name="TextBox 23">
            <a:extLst>
              <a:ext uri="{FF2B5EF4-FFF2-40B4-BE49-F238E27FC236}">
                <a16:creationId xmlns:a16="http://schemas.microsoft.com/office/drawing/2014/main" id="{491744BF-8A8B-1C72-FAE1-8E11EDE58F7D}"/>
              </a:ext>
            </a:extLst>
          </p:cNvPr>
          <p:cNvSpPr txBox="1"/>
          <p:nvPr/>
        </p:nvSpPr>
        <p:spPr>
          <a:xfrm>
            <a:off x="6934441" y="4423671"/>
            <a:ext cx="5112568" cy="400110"/>
          </a:xfrm>
          <a:prstGeom prst="rect">
            <a:avLst/>
          </a:prstGeom>
          <a:noFill/>
        </p:spPr>
        <p:txBody>
          <a:bodyPr wrap="square" rtlCol="0">
            <a:spAutoFit/>
          </a:bodyPr>
          <a:lstStyle/>
          <a:p>
            <a:endParaRPr lang="en-IN" sz="2000" dirty="0">
              <a:solidFill>
                <a:schemeClr val="bg2"/>
              </a:solidFill>
            </a:endParaRPr>
          </a:p>
        </p:txBody>
      </p:sp>
      <p:sp>
        <p:nvSpPr>
          <p:cNvPr id="4" name="TextBox 3">
            <a:extLst>
              <a:ext uri="{FF2B5EF4-FFF2-40B4-BE49-F238E27FC236}">
                <a16:creationId xmlns:a16="http://schemas.microsoft.com/office/drawing/2014/main" id="{0F785295-BBB4-71F3-C3A3-828030A834C5}"/>
              </a:ext>
            </a:extLst>
          </p:cNvPr>
          <p:cNvSpPr txBox="1"/>
          <p:nvPr/>
        </p:nvSpPr>
        <p:spPr>
          <a:xfrm>
            <a:off x="6410764" y="1629076"/>
            <a:ext cx="3175375" cy="2862322"/>
          </a:xfrm>
          <a:prstGeom prst="rect">
            <a:avLst/>
          </a:prstGeom>
          <a:noFill/>
        </p:spPr>
        <p:txBody>
          <a:bodyPr wrap="square" rtlCol="0">
            <a:spAutoFit/>
          </a:bodyPr>
          <a:lstStyle/>
          <a:p>
            <a:r>
              <a:rPr lang="en-IN" b="1" dirty="0">
                <a:solidFill>
                  <a:schemeClr val="bg1"/>
                </a:solidFill>
              </a:rPr>
              <a:t>Backend &amp; Frameworks </a:t>
            </a:r>
          </a:p>
          <a:p>
            <a:pPr marL="285750" indent="-285750">
              <a:buFont typeface="Arial" panose="020B0604020202020204" pitchFamily="34" charset="0"/>
              <a:buChar char="•"/>
            </a:pPr>
            <a:r>
              <a:rPr lang="en-IN" dirty="0">
                <a:solidFill>
                  <a:schemeClr val="bg1"/>
                </a:solidFill>
              </a:rPr>
              <a:t>Python</a:t>
            </a:r>
          </a:p>
          <a:p>
            <a:pPr marL="285750" indent="-285750">
              <a:buFont typeface="Arial" panose="020B0604020202020204" pitchFamily="34" charset="0"/>
              <a:buChar char="•"/>
            </a:pPr>
            <a:r>
              <a:rPr lang="en-IN" dirty="0">
                <a:solidFill>
                  <a:schemeClr val="bg1"/>
                </a:solidFill>
              </a:rPr>
              <a:t>Node.js</a:t>
            </a:r>
          </a:p>
          <a:p>
            <a:pPr marL="285750" indent="-285750">
              <a:buFont typeface="Arial" panose="020B0604020202020204" pitchFamily="34" charset="0"/>
              <a:buChar char="•"/>
            </a:pPr>
            <a:r>
              <a:rPr lang="en-IN" dirty="0">
                <a:solidFill>
                  <a:schemeClr val="bg1"/>
                </a:solidFill>
              </a:rPr>
              <a:t>Next.js(App Router)</a:t>
            </a:r>
          </a:p>
          <a:p>
            <a:pPr marL="285750" indent="-285750">
              <a:buFont typeface="Arial" panose="020B0604020202020204" pitchFamily="34" charset="0"/>
              <a:buChar char="•"/>
            </a:pPr>
            <a:r>
              <a:rPr lang="en-IN" dirty="0">
                <a:solidFill>
                  <a:schemeClr val="bg1"/>
                </a:solidFill>
              </a:rPr>
              <a:t>Next.js API Routers</a:t>
            </a:r>
          </a:p>
          <a:p>
            <a:pPr marL="285750" indent="-285750">
              <a:buFont typeface="Arial" panose="020B0604020202020204" pitchFamily="34" charset="0"/>
              <a:buChar char="•"/>
            </a:pPr>
            <a:r>
              <a:rPr lang="en-IN" dirty="0">
                <a:solidFill>
                  <a:schemeClr val="bg1"/>
                </a:solidFill>
              </a:rPr>
              <a:t>REST APIs</a:t>
            </a:r>
          </a:p>
          <a:p>
            <a:pPr marL="285750" indent="-285750">
              <a:buFont typeface="Arial" panose="020B0604020202020204" pitchFamily="34" charset="0"/>
              <a:buChar char="•"/>
            </a:pPr>
            <a:r>
              <a:rPr lang="en-IN" dirty="0">
                <a:solidFill>
                  <a:schemeClr val="bg1"/>
                </a:solidFill>
              </a:rPr>
              <a:t>Typescripts</a:t>
            </a:r>
          </a:p>
          <a:p>
            <a:pPr marL="285750" indent="-285750">
              <a:buFont typeface="Arial" panose="020B0604020202020204" pitchFamily="34" charset="0"/>
              <a:buChar char="•"/>
            </a:pPr>
            <a:r>
              <a:rPr lang="en-IN" dirty="0">
                <a:solidFill>
                  <a:schemeClr val="bg1"/>
                </a:solidFill>
              </a:rPr>
              <a:t>React (Server &amp; client Components)</a:t>
            </a:r>
          </a:p>
          <a:p>
            <a:endParaRPr lang="en-IN" dirty="0">
              <a:solidFill>
                <a:schemeClr val="bg1"/>
              </a:solidFill>
            </a:endParaRPr>
          </a:p>
        </p:txBody>
      </p:sp>
      <p:sp>
        <p:nvSpPr>
          <p:cNvPr id="5" name="TextBox 4">
            <a:extLst>
              <a:ext uri="{FF2B5EF4-FFF2-40B4-BE49-F238E27FC236}">
                <a16:creationId xmlns:a16="http://schemas.microsoft.com/office/drawing/2014/main" id="{8E949DEC-C3CE-BEEE-9512-3B78430994D3}"/>
              </a:ext>
            </a:extLst>
          </p:cNvPr>
          <p:cNvSpPr txBox="1"/>
          <p:nvPr/>
        </p:nvSpPr>
        <p:spPr>
          <a:xfrm>
            <a:off x="9367053" y="4248829"/>
            <a:ext cx="2520280" cy="1477328"/>
          </a:xfrm>
          <a:prstGeom prst="rect">
            <a:avLst/>
          </a:prstGeom>
          <a:noFill/>
        </p:spPr>
        <p:txBody>
          <a:bodyPr wrap="square" rtlCol="0">
            <a:spAutoFit/>
          </a:bodyPr>
          <a:lstStyle/>
          <a:p>
            <a:r>
              <a:rPr lang="en-US" b="1" dirty="0">
                <a:solidFill>
                  <a:schemeClr val="bg1"/>
                </a:solidFill>
              </a:rPr>
              <a:t>Machine Learning</a:t>
            </a:r>
          </a:p>
          <a:p>
            <a:pPr marL="285750" indent="-285750">
              <a:buFont typeface="Arial" panose="020B0604020202020204" pitchFamily="34" charset="0"/>
              <a:buChar char="•"/>
            </a:pPr>
            <a:r>
              <a:rPr lang="en-US" dirty="0" err="1">
                <a:solidFill>
                  <a:schemeClr val="bg1"/>
                </a:solidFill>
              </a:rPr>
              <a:t>XGBoost</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Pandas</a:t>
            </a:r>
          </a:p>
          <a:p>
            <a:pPr marL="285750" indent="-285750">
              <a:buFont typeface="Arial" panose="020B0604020202020204" pitchFamily="34" charset="0"/>
              <a:buChar char="•"/>
            </a:pPr>
            <a:r>
              <a:rPr lang="en-US" dirty="0">
                <a:solidFill>
                  <a:schemeClr val="bg1"/>
                </a:solidFill>
              </a:rPr>
              <a:t>NumPy</a:t>
            </a:r>
          </a:p>
          <a:p>
            <a:endParaRPr lang="en-IN" dirty="0">
              <a:solidFill>
                <a:schemeClr val="bg1"/>
              </a:solidFill>
            </a:endParaRPr>
          </a:p>
        </p:txBody>
      </p:sp>
      <p:sp>
        <p:nvSpPr>
          <p:cNvPr id="6" name="TextBox 5">
            <a:extLst>
              <a:ext uri="{FF2B5EF4-FFF2-40B4-BE49-F238E27FC236}">
                <a16:creationId xmlns:a16="http://schemas.microsoft.com/office/drawing/2014/main" id="{E3098C53-E07F-E078-5EC3-22AD76638B01}"/>
              </a:ext>
            </a:extLst>
          </p:cNvPr>
          <p:cNvSpPr txBox="1"/>
          <p:nvPr/>
        </p:nvSpPr>
        <p:spPr>
          <a:xfrm>
            <a:off x="9333930" y="1624860"/>
            <a:ext cx="2373584" cy="923330"/>
          </a:xfrm>
          <a:prstGeom prst="rect">
            <a:avLst/>
          </a:prstGeom>
          <a:noFill/>
        </p:spPr>
        <p:txBody>
          <a:bodyPr wrap="square" rtlCol="0">
            <a:spAutoFit/>
          </a:bodyPr>
          <a:lstStyle/>
          <a:p>
            <a:r>
              <a:rPr lang="en-IN" b="1" dirty="0">
                <a:solidFill>
                  <a:schemeClr val="bg1"/>
                </a:solidFill>
              </a:rPr>
              <a:t>Database &amp; Storage</a:t>
            </a:r>
            <a:endParaRPr lang="en-IN" dirty="0">
              <a:solidFill>
                <a:schemeClr val="bg1"/>
              </a:solidFill>
            </a:endParaRPr>
          </a:p>
          <a:p>
            <a:pPr marL="285750" indent="-285750">
              <a:buFont typeface="Arial" panose="020B0604020202020204" pitchFamily="34" charset="0"/>
              <a:buChar char="•"/>
            </a:pPr>
            <a:r>
              <a:rPr lang="en-IN" dirty="0" err="1">
                <a:solidFill>
                  <a:schemeClr val="bg1"/>
                </a:solidFill>
              </a:rPr>
              <a:t>Sqlite</a:t>
            </a:r>
            <a:endParaRPr lang="en-IN" dirty="0">
              <a:solidFill>
                <a:schemeClr val="bg1"/>
              </a:solidFill>
            </a:endParaRPr>
          </a:p>
          <a:p>
            <a:endParaRPr lang="en-IN" dirty="0">
              <a:solidFill>
                <a:schemeClr val="bg1"/>
              </a:solidFill>
            </a:endParaRPr>
          </a:p>
        </p:txBody>
      </p:sp>
      <p:sp>
        <p:nvSpPr>
          <p:cNvPr id="7" name="TextBox 6">
            <a:extLst>
              <a:ext uri="{FF2B5EF4-FFF2-40B4-BE49-F238E27FC236}">
                <a16:creationId xmlns:a16="http://schemas.microsoft.com/office/drawing/2014/main" id="{94A99DBC-D527-EB9E-1570-15AA0D7EDC4B}"/>
              </a:ext>
            </a:extLst>
          </p:cNvPr>
          <p:cNvSpPr txBox="1"/>
          <p:nvPr/>
        </p:nvSpPr>
        <p:spPr>
          <a:xfrm>
            <a:off x="6445037" y="4217506"/>
            <a:ext cx="3122825" cy="3693319"/>
          </a:xfrm>
          <a:prstGeom prst="rect">
            <a:avLst/>
          </a:prstGeom>
          <a:noFill/>
        </p:spPr>
        <p:txBody>
          <a:bodyPr wrap="square" rtlCol="0">
            <a:spAutoFit/>
          </a:bodyPr>
          <a:lstStyle/>
          <a:p>
            <a:r>
              <a:rPr lang="en-IN" b="1" dirty="0">
                <a:solidFill>
                  <a:schemeClr val="bg2"/>
                </a:solidFill>
              </a:rPr>
              <a:t>Frontend</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React.js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Next.js (App Router)</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TypeScript</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HTML5</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CSS3</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Tailwind CSS</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Radix UI</a:t>
            </a:r>
          </a:p>
          <a:p>
            <a:pPr marL="285750" lvl="0" indent="-285750" eaLnBrk="0" fontAlgn="base" hangingPunct="0">
              <a:spcBef>
                <a:spcPct val="0"/>
              </a:spcBef>
              <a:spcAft>
                <a:spcPct val="0"/>
              </a:spcAft>
              <a:buFont typeface="Arial" panose="020B0604020202020204" pitchFamily="34" charset="0"/>
              <a:buChar char="•"/>
            </a:pPr>
            <a:r>
              <a:rPr lang="en-US" altLang="en-US" dirty="0">
                <a:solidFill>
                  <a:schemeClr val="bg2"/>
                </a:solidFill>
              </a:rPr>
              <a:t>Responsive Web Design</a:t>
            </a:r>
          </a:p>
          <a:p>
            <a:pPr marL="285750" indent="-285750">
              <a:buFont typeface="Arial" panose="020B0604020202020204" pitchFamily="34" charset="0"/>
              <a:buChar char="•"/>
            </a:pPr>
            <a:endParaRPr lang="en-IN" dirty="0">
              <a:solidFill>
                <a:schemeClr val="bg2"/>
              </a:solidFill>
            </a:endParaRPr>
          </a:p>
          <a:p>
            <a:pPr marL="285750" indent="-285750">
              <a:buFont typeface="Arial" panose="020B0604020202020204" pitchFamily="34" charset="0"/>
              <a:buChar char="•"/>
            </a:pPr>
            <a:endParaRPr lang="en-IN" dirty="0">
              <a:solidFill>
                <a:schemeClr val="bg2"/>
              </a:solidFill>
            </a:endParaRPr>
          </a:p>
          <a:p>
            <a:endParaRPr lang="en-IN" dirty="0">
              <a:solidFill>
                <a:schemeClr val="bg2"/>
              </a:solidFill>
            </a:endParaRPr>
          </a:p>
          <a:p>
            <a:endParaRPr lang="en-IN" dirty="0">
              <a:solidFill>
                <a:schemeClr val="bg2"/>
              </a:solidFill>
            </a:endParaRPr>
          </a:p>
        </p:txBody>
      </p:sp>
      <p:sp>
        <p:nvSpPr>
          <p:cNvPr id="8" name="TextBox 7">
            <a:extLst>
              <a:ext uri="{FF2B5EF4-FFF2-40B4-BE49-F238E27FC236}">
                <a16:creationId xmlns:a16="http://schemas.microsoft.com/office/drawing/2014/main" id="{5B90A598-2E6F-1EBE-21DD-31C24FB033EE}"/>
              </a:ext>
            </a:extLst>
          </p:cNvPr>
          <p:cNvSpPr txBox="1"/>
          <p:nvPr/>
        </p:nvSpPr>
        <p:spPr>
          <a:xfrm>
            <a:off x="9391120" y="2669668"/>
            <a:ext cx="2981637" cy="1477328"/>
          </a:xfrm>
          <a:prstGeom prst="rect">
            <a:avLst/>
          </a:prstGeom>
          <a:noFill/>
        </p:spPr>
        <p:txBody>
          <a:bodyPr wrap="square" rtlCol="0">
            <a:spAutoFit/>
          </a:bodyPr>
          <a:lstStyle/>
          <a:p>
            <a:r>
              <a:rPr lang="en-IN" b="1" dirty="0">
                <a:solidFill>
                  <a:schemeClr val="bg1"/>
                </a:solidFill>
              </a:rPr>
              <a:t>Development </a:t>
            </a:r>
            <a:endParaRPr lang="en-IN" dirty="0">
              <a:solidFill>
                <a:schemeClr val="bg1"/>
              </a:solidFill>
            </a:endParaRPr>
          </a:p>
          <a:p>
            <a:pPr marL="285750" indent="-285750">
              <a:buFont typeface="Arial" panose="020B0604020202020204" pitchFamily="34" charset="0"/>
              <a:buChar char="•"/>
            </a:pPr>
            <a:r>
              <a:rPr lang="en-IN" dirty="0">
                <a:solidFill>
                  <a:schemeClr val="bg1"/>
                </a:solidFill>
              </a:rPr>
              <a:t>GitHub</a:t>
            </a:r>
          </a:p>
          <a:p>
            <a:pPr marL="285750" indent="-285750">
              <a:buFont typeface="Arial" panose="020B0604020202020204" pitchFamily="34" charset="0"/>
              <a:buChar char="•"/>
            </a:pPr>
            <a:r>
              <a:rPr lang="en-IN" dirty="0">
                <a:solidFill>
                  <a:schemeClr val="bg1"/>
                </a:solidFill>
              </a:rPr>
              <a:t>VS Code</a:t>
            </a:r>
          </a:p>
          <a:p>
            <a:pPr marL="285750" indent="-285750">
              <a:buFont typeface="Arial" panose="020B0604020202020204" pitchFamily="34" charset="0"/>
              <a:buChar char="•"/>
            </a:pPr>
            <a:r>
              <a:rPr lang="en-IN" dirty="0">
                <a:solidFill>
                  <a:schemeClr val="bg1"/>
                </a:solidFill>
              </a:rPr>
              <a:t>Postman</a:t>
            </a:r>
          </a:p>
          <a:p>
            <a:endParaRPr lang="en-IN" dirty="0">
              <a:solidFill>
                <a:schemeClr val="bg1"/>
              </a:solidFill>
            </a:endParaRPr>
          </a:p>
        </p:txBody>
      </p:sp>
      <p:pic>
        <p:nvPicPr>
          <p:cNvPr id="22" name="Picture 21" descr="A close-up of a logo&#10;&#10;AI-generated content may be incorrect.">
            <a:extLst>
              <a:ext uri="{FF2B5EF4-FFF2-40B4-BE49-F238E27FC236}">
                <a16:creationId xmlns:a16="http://schemas.microsoft.com/office/drawing/2014/main" id="{7875D192-6F41-842A-72D2-DA8748C7B699}"/>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286488" y="519699"/>
            <a:ext cx="1438096" cy="3950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880D44E-F2CD-F6A8-C811-7437D90ABB1C}"/>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21D566FA-7CBE-830D-D1E6-BECAFCEFD996}"/>
              </a:ext>
            </a:extLst>
          </p:cNvPr>
          <p:cNvSpPr/>
          <p:nvPr/>
        </p:nvSpPr>
        <p:spPr>
          <a:xfrm>
            <a:off x="-168696" y="-49696"/>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8970291D-721C-3D55-AFF0-59D238FCE2E8}"/>
              </a:ext>
            </a:extLst>
          </p:cNvPr>
          <p:cNvSpPr/>
          <p:nvPr/>
        </p:nvSpPr>
        <p:spPr>
          <a:xfrm>
            <a:off x="-168696" y="-76011"/>
            <a:ext cx="12369296" cy="89489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Layers of System </a:t>
            </a:r>
          </a:p>
        </p:txBody>
      </p:sp>
      <p:sp>
        <p:nvSpPr>
          <p:cNvPr id="4" name="TextBox 3">
            <a:extLst>
              <a:ext uri="{FF2B5EF4-FFF2-40B4-BE49-F238E27FC236}">
                <a16:creationId xmlns:a16="http://schemas.microsoft.com/office/drawing/2014/main" id="{09B96850-7530-C542-C0E2-00B36A86908F}"/>
              </a:ext>
            </a:extLst>
          </p:cNvPr>
          <p:cNvSpPr txBox="1"/>
          <p:nvPr/>
        </p:nvSpPr>
        <p:spPr>
          <a:xfrm>
            <a:off x="407368" y="829192"/>
            <a:ext cx="9182586" cy="6370975"/>
          </a:xfrm>
          <a:prstGeom prst="rect">
            <a:avLst/>
          </a:prstGeom>
          <a:noFill/>
        </p:spPr>
        <p:txBody>
          <a:bodyPr wrap="square" rtlCol="0">
            <a:spAutoFit/>
          </a:bodyPr>
          <a:lstStyle/>
          <a:p>
            <a:r>
              <a:rPr lang="en-US" sz="1600" b="1" dirty="0">
                <a:solidFill>
                  <a:schemeClr val="bg1"/>
                </a:solidFill>
              </a:rPr>
              <a:t>1️⃣ </a:t>
            </a:r>
            <a:r>
              <a:rPr lang="en-US" b="1" dirty="0">
                <a:solidFill>
                  <a:schemeClr val="bg1"/>
                </a:solidFill>
              </a:rPr>
              <a:t>Data Layer</a:t>
            </a:r>
            <a:br>
              <a:rPr lang="en-US" sz="1600" dirty="0">
                <a:solidFill>
                  <a:schemeClr val="bg1"/>
                </a:solidFill>
              </a:rPr>
            </a:br>
            <a:r>
              <a:rPr lang="en-US" sz="1600" dirty="0">
                <a:solidFill>
                  <a:schemeClr val="bg1"/>
                </a:solidFill>
              </a:rPr>
              <a:t>      </a:t>
            </a:r>
            <a:r>
              <a:rPr lang="en-US" sz="1600" dirty="0">
                <a:solidFill>
                  <a:schemeClr val="bg2"/>
                </a:solidFill>
              </a:rPr>
              <a:t>This layer handles all data storage and sources required by the system.</a:t>
            </a:r>
          </a:p>
          <a:p>
            <a:r>
              <a:rPr lang="en-US" sz="1600" b="1" dirty="0">
                <a:solidFill>
                  <a:schemeClr val="bg2"/>
                </a:solidFill>
              </a:rPr>
              <a:t>      Historical sales dataset</a:t>
            </a:r>
            <a:r>
              <a:rPr lang="en-US" sz="1600" dirty="0">
                <a:solidFill>
                  <a:schemeClr val="bg2"/>
                </a:solidFill>
              </a:rPr>
              <a:t> – contains sales, inventory, and store-level data</a:t>
            </a:r>
          </a:p>
          <a:p>
            <a:r>
              <a:rPr lang="en-US" sz="1600" b="1" dirty="0">
                <a:solidFill>
                  <a:schemeClr val="bg2"/>
                </a:solidFill>
              </a:rPr>
              <a:t>      SQLite Database</a:t>
            </a:r>
            <a:r>
              <a:rPr lang="en-US" sz="1600" dirty="0">
                <a:solidFill>
                  <a:schemeClr val="bg2"/>
                </a:solidFill>
              </a:rPr>
              <a:t> – stores structured data for querying, reporting, and analysis</a:t>
            </a:r>
          </a:p>
          <a:p>
            <a:endParaRPr lang="en-US" sz="1600" dirty="0">
              <a:solidFill>
                <a:schemeClr val="bg1"/>
              </a:solidFill>
            </a:endParaRPr>
          </a:p>
          <a:p>
            <a:r>
              <a:rPr lang="en-US" sz="1600" b="1" dirty="0">
                <a:solidFill>
                  <a:schemeClr val="bg1"/>
                </a:solidFill>
              </a:rPr>
              <a:t>2️⃣ </a:t>
            </a:r>
            <a:r>
              <a:rPr lang="en-US" b="1" dirty="0">
                <a:solidFill>
                  <a:schemeClr val="bg1"/>
                </a:solidFill>
              </a:rPr>
              <a:t>Processing Layer</a:t>
            </a:r>
            <a:br>
              <a:rPr lang="en-US" sz="1600" dirty="0">
                <a:solidFill>
                  <a:schemeClr val="bg1"/>
                </a:solidFill>
              </a:rPr>
            </a:br>
            <a:r>
              <a:rPr lang="en-US" sz="1600" dirty="0">
                <a:solidFill>
                  <a:schemeClr val="bg1"/>
                </a:solidFill>
              </a:rPr>
              <a:t>      </a:t>
            </a:r>
            <a:r>
              <a:rPr lang="en-US" sz="1600" dirty="0">
                <a:solidFill>
                  <a:schemeClr val="bg2"/>
                </a:solidFill>
              </a:rPr>
              <a:t>This layer prepares data and builds the machine learning model.</a:t>
            </a:r>
          </a:p>
          <a:p>
            <a:r>
              <a:rPr lang="en-US" sz="1600" b="1" dirty="0">
                <a:solidFill>
                  <a:schemeClr val="bg2"/>
                </a:solidFill>
              </a:rPr>
              <a:t>      Data preprocessing</a:t>
            </a:r>
            <a:r>
              <a:rPr lang="en-US" sz="1600" dirty="0">
                <a:solidFill>
                  <a:schemeClr val="bg2"/>
                </a:solidFill>
              </a:rPr>
              <a:t> – cleaning, normalization, and formatting of raw data</a:t>
            </a:r>
          </a:p>
          <a:p>
            <a:r>
              <a:rPr lang="en-US" sz="1600" b="1" dirty="0">
                <a:solidFill>
                  <a:schemeClr val="bg2"/>
                </a:solidFill>
              </a:rPr>
              <a:t>      Feature engineering</a:t>
            </a:r>
            <a:r>
              <a:rPr lang="en-US" sz="1600" dirty="0">
                <a:solidFill>
                  <a:schemeClr val="bg2"/>
                </a:solidFill>
              </a:rPr>
              <a:t> – creation of meaningful features for forecasting</a:t>
            </a:r>
          </a:p>
          <a:p>
            <a:r>
              <a:rPr lang="en-US" sz="1600" b="1" dirty="0">
                <a:solidFill>
                  <a:schemeClr val="bg2"/>
                </a:solidFill>
              </a:rPr>
              <a:t>      </a:t>
            </a:r>
            <a:r>
              <a:rPr lang="en-US" sz="1600" b="1" dirty="0" err="1">
                <a:solidFill>
                  <a:schemeClr val="bg2"/>
                </a:solidFill>
              </a:rPr>
              <a:t>XGBoost</a:t>
            </a:r>
            <a:r>
              <a:rPr lang="en-US" sz="1600" b="1" dirty="0">
                <a:solidFill>
                  <a:schemeClr val="bg2"/>
                </a:solidFill>
              </a:rPr>
              <a:t> model training</a:t>
            </a:r>
            <a:r>
              <a:rPr lang="en-US" sz="1600" dirty="0">
                <a:solidFill>
                  <a:schemeClr val="bg2"/>
                </a:solidFill>
              </a:rPr>
              <a:t> – offline training of demand forecasting model</a:t>
            </a:r>
          </a:p>
          <a:p>
            <a:r>
              <a:rPr lang="en-US" sz="1600" b="1" dirty="0">
                <a:solidFill>
                  <a:schemeClr val="bg2"/>
                </a:solidFill>
              </a:rPr>
              <a:t>      Model persistence</a:t>
            </a:r>
            <a:r>
              <a:rPr lang="en-US" sz="1600" dirty="0">
                <a:solidFill>
                  <a:schemeClr val="bg2"/>
                </a:solidFill>
              </a:rPr>
              <a:t> – saving trained models for reuse</a:t>
            </a:r>
          </a:p>
          <a:p>
            <a:endParaRPr lang="en-US" sz="1600" dirty="0"/>
          </a:p>
          <a:p>
            <a:r>
              <a:rPr lang="en-US" sz="1600" b="1" dirty="0">
                <a:solidFill>
                  <a:schemeClr val="bg1"/>
                </a:solidFill>
              </a:rPr>
              <a:t>3️⃣ </a:t>
            </a:r>
            <a:r>
              <a:rPr lang="en-US" b="1" dirty="0">
                <a:solidFill>
                  <a:schemeClr val="bg1"/>
                </a:solidFill>
              </a:rPr>
              <a:t>Application Layer</a:t>
            </a:r>
          </a:p>
          <a:p>
            <a:pPr lvl="0" eaLnBrk="0" fontAlgn="base" hangingPunct="0">
              <a:spcBef>
                <a:spcPct val="0"/>
              </a:spcBef>
              <a:spcAft>
                <a:spcPct val="0"/>
              </a:spcAft>
            </a:pPr>
            <a:r>
              <a:rPr lang="en-US" altLang="en-US" sz="1600" b="1" dirty="0">
                <a:latin typeface="Arial" panose="020B0604020202020204" pitchFamily="34" charset="0"/>
              </a:rPr>
              <a:t>   </a:t>
            </a:r>
            <a:r>
              <a:rPr lang="en-US" altLang="en-US" sz="1600" b="1" dirty="0">
                <a:solidFill>
                  <a:schemeClr val="bg2"/>
                </a:solidFill>
              </a:rPr>
              <a:t>Node.js</a:t>
            </a:r>
            <a:r>
              <a:rPr lang="en-US" altLang="en-US" sz="1600" dirty="0">
                <a:solidFill>
                  <a:schemeClr val="bg2"/>
                </a:solidFill>
              </a:rPr>
              <a:t> – runtime for executing server-side JavaScript</a:t>
            </a:r>
          </a:p>
          <a:p>
            <a:pPr lvl="0" eaLnBrk="0" fontAlgn="base" hangingPunct="0">
              <a:spcBef>
                <a:spcPct val="0"/>
              </a:spcBef>
              <a:spcAft>
                <a:spcPct val="0"/>
              </a:spcAft>
            </a:pPr>
            <a:r>
              <a:rPr lang="en-US" altLang="en-US" sz="1600" b="1" dirty="0">
                <a:solidFill>
                  <a:schemeClr val="bg2"/>
                </a:solidFill>
              </a:rPr>
              <a:t>    Next.js (App Router)</a:t>
            </a:r>
            <a:r>
              <a:rPr lang="en-US" altLang="en-US" sz="1600" dirty="0">
                <a:solidFill>
                  <a:schemeClr val="bg2"/>
                </a:solidFill>
              </a:rPr>
              <a:t> – framework for building server-rendered React applications</a:t>
            </a:r>
          </a:p>
          <a:p>
            <a:pPr lvl="0" eaLnBrk="0" fontAlgn="base" hangingPunct="0">
              <a:spcBef>
                <a:spcPct val="0"/>
              </a:spcBef>
              <a:spcAft>
                <a:spcPct val="0"/>
              </a:spcAft>
            </a:pPr>
            <a:r>
              <a:rPr lang="en-US" altLang="en-US" sz="1600" b="1" dirty="0">
                <a:solidFill>
                  <a:schemeClr val="bg2"/>
                </a:solidFill>
              </a:rPr>
              <a:t>    Next.js API Routes</a:t>
            </a:r>
            <a:r>
              <a:rPr lang="en-US" altLang="en-US" sz="1600" dirty="0">
                <a:solidFill>
                  <a:schemeClr val="bg2"/>
                </a:solidFill>
              </a:rPr>
              <a:t> – backend endpoints to handle requests</a:t>
            </a:r>
          </a:p>
          <a:p>
            <a:pPr lvl="0" eaLnBrk="0" fontAlgn="base" hangingPunct="0">
              <a:spcBef>
                <a:spcPct val="0"/>
              </a:spcBef>
              <a:spcAft>
                <a:spcPct val="0"/>
              </a:spcAft>
            </a:pPr>
            <a:r>
              <a:rPr lang="en-US" altLang="en-US" sz="1600" b="1" dirty="0">
                <a:solidFill>
                  <a:schemeClr val="bg2"/>
                </a:solidFill>
              </a:rPr>
              <a:t>    REST APIs</a:t>
            </a:r>
            <a:r>
              <a:rPr lang="en-US" altLang="en-US" sz="1600" dirty="0">
                <a:solidFill>
                  <a:schemeClr val="bg2"/>
                </a:solidFill>
              </a:rPr>
              <a:t> – endpoints for client-server communication</a:t>
            </a:r>
          </a:p>
          <a:p>
            <a:pPr lvl="0" eaLnBrk="0" fontAlgn="base" hangingPunct="0">
              <a:spcBef>
                <a:spcPct val="0"/>
              </a:spcBef>
              <a:spcAft>
                <a:spcPct val="0"/>
              </a:spcAft>
            </a:pPr>
            <a:r>
              <a:rPr lang="en-US" altLang="en-US" sz="1600" b="1" dirty="0">
                <a:solidFill>
                  <a:schemeClr val="bg2"/>
                </a:solidFill>
              </a:rPr>
              <a:t>    TypeScript</a:t>
            </a:r>
            <a:r>
              <a:rPr lang="en-US" altLang="en-US" sz="1600" dirty="0">
                <a:solidFill>
                  <a:schemeClr val="bg2"/>
                </a:solidFill>
              </a:rPr>
              <a:t> – ensures type safety and maintainable code</a:t>
            </a:r>
          </a:p>
          <a:p>
            <a:pPr lvl="0" eaLnBrk="0" fontAlgn="base" hangingPunct="0">
              <a:spcBef>
                <a:spcPct val="0"/>
              </a:spcBef>
              <a:spcAft>
                <a:spcPct val="0"/>
              </a:spcAft>
            </a:pPr>
            <a:r>
              <a:rPr lang="en-US" altLang="en-US" sz="1600" b="1" dirty="0">
                <a:solidFill>
                  <a:schemeClr val="bg2"/>
                </a:solidFill>
              </a:rPr>
              <a:t>    Prediction service</a:t>
            </a:r>
            <a:r>
              <a:rPr lang="en-US" altLang="en-US" sz="1600" dirty="0">
                <a:solidFill>
                  <a:schemeClr val="bg2"/>
                </a:solidFill>
              </a:rPr>
              <a:t> – loads saved ML model and returns forecasts</a:t>
            </a:r>
          </a:p>
          <a:p>
            <a:endParaRPr lang="en-US" sz="1600" dirty="0">
              <a:solidFill>
                <a:schemeClr val="bg2"/>
              </a:solidFill>
            </a:endParaRPr>
          </a:p>
          <a:p>
            <a:r>
              <a:rPr lang="en-US" sz="1600" b="1" dirty="0">
                <a:solidFill>
                  <a:schemeClr val="bg1"/>
                </a:solidFill>
              </a:rPr>
              <a:t>4️⃣ </a:t>
            </a:r>
            <a:r>
              <a:rPr lang="en-US" b="1" dirty="0">
                <a:solidFill>
                  <a:schemeClr val="bg1"/>
                </a:solidFill>
              </a:rPr>
              <a:t>Presentation Layer</a:t>
            </a:r>
            <a:br>
              <a:rPr lang="en-US" sz="1600" dirty="0">
                <a:solidFill>
                  <a:schemeClr val="bg1"/>
                </a:solidFill>
              </a:rPr>
            </a:br>
            <a:r>
              <a:rPr lang="en-US" sz="1600" dirty="0">
                <a:solidFill>
                  <a:schemeClr val="bg1"/>
                </a:solidFill>
              </a:rPr>
              <a:t>      This is the user interface, what the user sees and interacts. Includes:</a:t>
            </a:r>
          </a:p>
          <a:p>
            <a:r>
              <a:rPr lang="en-US" sz="1600" b="1" dirty="0">
                <a:solidFill>
                  <a:schemeClr val="bg1"/>
                </a:solidFill>
              </a:rPr>
              <a:t>      Web-based dashboard</a:t>
            </a:r>
            <a:r>
              <a:rPr lang="en-US" sz="1600" dirty="0">
                <a:solidFill>
                  <a:schemeClr val="bg1"/>
                </a:solidFill>
              </a:rPr>
              <a:t> → displays sales, stock, alerts, and forecasts.</a:t>
            </a:r>
          </a:p>
          <a:p>
            <a:r>
              <a:rPr lang="en-US" sz="1600" b="1" dirty="0">
                <a:solidFill>
                  <a:schemeClr val="bg1"/>
                </a:solidFill>
              </a:rPr>
              <a:t>      Inventory monitoring tables</a:t>
            </a:r>
            <a:r>
              <a:rPr lang="en-US" sz="1600" dirty="0">
                <a:solidFill>
                  <a:schemeClr val="bg1"/>
                </a:solidFill>
              </a:rPr>
              <a:t> → track real-time stock across stores.</a:t>
            </a:r>
          </a:p>
          <a:p>
            <a:endParaRPr lang="en-IN" sz="1600" dirty="0">
              <a:solidFill>
                <a:schemeClr val="bg1"/>
              </a:solidFill>
            </a:endParaRPr>
          </a:p>
        </p:txBody>
      </p:sp>
      <p:sp>
        <p:nvSpPr>
          <p:cNvPr id="5" name="AutoShape 2" descr="Generated image">
            <a:extLst>
              <a:ext uri="{FF2B5EF4-FFF2-40B4-BE49-F238E27FC236}">
                <a16:creationId xmlns:a16="http://schemas.microsoft.com/office/drawing/2014/main" id="{C6973972-6963-A144-E687-20E46E5AC4B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descr="A diagram of layers of a layer&#10;&#10;AI-generated content may be incorrect.">
            <a:extLst>
              <a:ext uri="{FF2B5EF4-FFF2-40B4-BE49-F238E27FC236}">
                <a16:creationId xmlns:a16="http://schemas.microsoft.com/office/drawing/2014/main" id="{DF16193A-3436-BB39-ED3D-9BC3159E4205}"/>
              </a:ext>
            </a:extLst>
          </p:cNvPr>
          <p:cNvPicPr>
            <a:picLocks noChangeAspect="1"/>
          </p:cNvPicPr>
          <p:nvPr/>
        </p:nvPicPr>
        <p:blipFill>
          <a:blip r:embed="rId3">
            <a:extLst>
              <a:ext uri="{28A0092B-C50C-407E-A947-70E740481C1C}">
                <a14:useLocalDpi xmlns:a14="http://schemas.microsoft.com/office/drawing/2010/main" val="0"/>
              </a:ext>
            </a:extLst>
          </a:blip>
          <a:srcRect t="4203" b="19230"/>
          <a:stretch>
            <a:fillRect/>
          </a:stretch>
        </p:blipFill>
        <p:spPr>
          <a:xfrm>
            <a:off x="7968208" y="1596559"/>
            <a:ext cx="3456384" cy="3969681"/>
          </a:xfrm>
          <a:prstGeom prst="rect">
            <a:avLst/>
          </a:prstGeom>
        </p:spPr>
      </p:pic>
      <p:pic>
        <p:nvPicPr>
          <p:cNvPr id="13" name="Picture 12" descr="A close-up of a logo&#10;&#10;AI-generated content may be incorrect.">
            <a:extLst>
              <a:ext uri="{FF2B5EF4-FFF2-40B4-BE49-F238E27FC236}">
                <a16:creationId xmlns:a16="http://schemas.microsoft.com/office/drawing/2014/main" id="{E1E261AA-0624-2802-6B7F-978D8808C4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00456"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1190633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7AF8F8-351D-0D6A-9769-B940FDE8331E}"/>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DCE90B26-62F9-E80A-7345-55E26CD97034}"/>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0EB9E890-A6C7-ED43-005C-C12FA0E79C01}"/>
              </a:ext>
            </a:extLst>
          </p:cNvPr>
          <p:cNvSpPr/>
          <p:nvPr/>
        </p:nvSpPr>
        <p:spPr>
          <a:xfrm>
            <a:off x="-168696" y="-98634"/>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System Flow</a:t>
            </a:r>
          </a:p>
        </p:txBody>
      </p:sp>
      <p:sp>
        <p:nvSpPr>
          <p:cNvPr id="10" name="Rectangle: Rounded Corners 9">
            <a:extLst>
              <a:ext uri="{FF2B5EF4-FFF2-40B4-BE49-F238E27FC236}">
                <a16:creationId xmlns:a16="http://schemas.microsoft.com/office/drawing/2014/main" id="{5EF1B9E4-0655-D27F-7D8F-3FD884A7E64F}"/>
              </a:ext>
            </a:extLst>
          </p:cNvPr>
          <p:cNvSpPr/>
          <p:nvPr/>
        </p:nvSpPr>
        <p:spPr>
          <a:xfrm>
            <a:off x="466888" y="2121509"/>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18" name="Straight Arrow Connector 17">
            <a:extLst>
              <a:ext uri="{FF2B5EF4-FFF2-40B4-BE49-F238E27FC236}">
                <a16:creationId xmlns:a16="http://schemas.microsoft.com/office/drawing/2014/main" id="{5AE18FFA-F403-627C-9BF9-AB54A8F432A8}"/>
              </a:ext>
            </a:extLst>
          </p:cNvPr>
          <p:cNvCxnSpPr>
            <a:cxnSpLocks/>
          </p:cNvCxnSpPr>
          <p:nvPr/>
        </p:nvCxnSpPr>
        <p:spPr>
          <a:xfrm>
            <a:off x="1858752" y="187549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6" name="Rectangle: Rounded Corners 5">
            <a:extLst>
              <a:ext uri="{FF2B5EF4-FFF2-40B4-BE49-F238E27FC236}">
                <a16:creationId xmlns:a16="http://schemas.microsoft.com/office/drawing/2014/main" id="{4FB902B7-1CCE-D653-201D-3F7230D34693}"/>
              </a:ext>
            </a:extLst>
          </p:cNvPr>
          <p:cNvSpPr/>
          <p:nvPr/>
        </p:nvSpPr>
        <p:spPr>
          <a:xfrm>
            <a:off x="474888" y="3024586"/>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1" name="Rectangle: Rounded Corners 10">
            <a:extLst>
              <a:ext uri="{FF2B5EF4-FFF2-40B4-BE49-F238E27FC236}">
                <a16:creationId xmlns:a16="http://schemas.microsoft.com/office/drawing/2014/main" id="{B3510768-4574-8A96-F534-F90BA47BDD22}"/>
              </a:ext>
            </a:extLst>
          </p:cNvPr>
          <p:cNvSpPr/>
          <p:nvPr/>
        </p:nvSpPr>
        <p:spPr>
          <a:xfrm>
            <a:off x="466888" y="3975397"/>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092600D-6DA0-A4EE-13CB-3A30E01D607B}"/>
              </a:ext>
            </a:extLst>
          </p:cNvPr>
          <p:cNvSpPr/>
          <p:nvPr/>
        </p:nvSpPr>
        <p:spPr>
          <a:xfrm>
            <a:off x="497192" y="5829285"/>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15" name="Rectangle: Rounded Corners 14">
            <a:extLst>
              <a:ext uri="{FF2B5EF4-FFF2-40B4-BE49-F238E27FC236}">
                <a16:creationId xmlns:a16="http://schemas.microsoft.com/office/drawing/2014/main" id="{88863E5C-D833-D937-6AA9-159439180217}"/>
              </a:ext>
            </a:extLst>
          </p:cNvPr>
          <p:cNvSpPr/>
          <p:nvPr/>
        </p:nvSpPr>
        <p:spPr>
          <a:xfrm>
            <a:off x="497192" y="4934354"/>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F617438A-6E94-9172-0C6A-662191668ABB}"/>
              </a:ext>
            </a:extLst>
          </p:cNvPr>
          <p:cNvSpPr/>
          <p:nvPr/>
        </p:nvSpPr>
        <p:spPr>
          <a:xfrm>
            <a:off x="461352" y="1201570"/>
            <a:ext cx="2723120" cy="725728"/>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cxnSp>
        <p:nvCxnSpPr>
          <p:cNvPr id="38" name="Straight Arrow Connector 37">
            <a:extLst>
              <a:ext uri="{FF2B5EF4-FFF2-40B4-BE49-F238E27FC236}">
                <a16:creationId xmlns:a16="http://schemas.microsoft.com/office/drawing/2014/main" id="{ED27B31C-26EC-0B53-8335-D9E8DE79848B}"/>
              </a:ext>
            </a:extLst>
          </p:cNvPr>
          <p:cNvCxnSpPr>
            <a:cxnSpLocks/>
          </p:cNvCxnSpPr>
          <p:nvPr/>
        </p:nvCxnSpPr>
        <p:spPr>
          <a:xfrm>
            <a:off x="1858936" y="2847237"/>
            <a:ext cx="0" cy="19301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1" name="Straight Arrow Connector 40">
            <a:extLst>
              <a:ext uri="{FF2B5EF4-FFF2-40B4-BE49-F238E27FC236}">
                <a16:creationId xmlns:a16="http://schemas.microsoft.com/office/drawing/2014/main" id="{1DE3E441-980D-DBAF-8BED-8224D9C9D4D4}"/>
              </a:ext>
            </a:extLst>
          </p:cNvPr>
          <p:cNvCxnSpPr>
            <a:cxnSpLocks/>
          </p:cNvCxnSpPr>
          <p:nvPr/>
        </p:nvCxnSpPr>
        <p:spPr>
          <a:xfrm>
            <a:off x="1858752" y="3750314"/>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018A0949-66EB-CD78-9675-15C67F3363B7}"/>
              </a:ext>
            </a:extLst>
          </p:cNvPr>
          <p:cNvCxnSpPr>
            <a:cxnSpLocks/>
          </p:cNvCxnSpPr>
          <p:nvPr/>
        </p:nvCxnSpPr>
        <p:spPr>
          <a:xfrm>
            <a:off x="1858752" y="4688339"/>
            <a:ext cx="0" cy="246015"/>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cxnSp>
        <p:nvCxnSpPr>
          <p:cNvPr id="43" name="Straight Arrow Connector 42">
            <a:extLst>
              <a:ext uri="{FF2B5EF4-FFF2-40B4-BE49-F238E27FC236}">
                <a16:creationId xmlns:a16="http://schemas.microsoft.com/office/drawing/2014/main" id="{1FF37A4A-9F39-9DFA-249E-1104FDA60A05}"/>
              </a:ext>
            </a:extLst>
          </p:cNvPr>
          <p:cNvCxnSpPr>
            <a:cxnSpLocks/>
          </p:cNvCxnSpPr>
          <p:nvPr/>
        </p:nvCxnSpPr>
        <p:spPr>
          <a:xfrm>
            <a:off x="1858752" y="5660082"/>
            <a:ext cx="0" cy="245201"/>
          </a:xfrm>
          <a:prstGeom prst="straightConnector1">
            <a:avLst/>
          </a:prstGeom>
          <a:ln>
            <a:solidFill>
              <a:schemeClr val="bg2">
                <a:lumMod val="90000"/>
              </a:schemeClr>
            </a:solidFill>
            <a:tailEnd type="triangle"/>
          </a:ln>
        </p:spPr>
        <p:style>
          <a:lnRef idx="3">
            <a:schemeClr val="accent1"/>
          </a:lnRef>
          <a:fillRef idx="0">
            <a:schemeClr val="accent1"/>
          </a:fillRef>
          <a:effectRef idx="2">
            <a:schemeClr val="accent1"/>
          </a:effectRef>
          <a:fontRef idx="minor">
            <a:schemeClr val="tx1"/>
          </a:fontRef>
        </p:style>
      </p:cxnSp>
      <p:sp>
        <p:nvSpPr>
          <p:cNvPr id="47" name="TextBox 46">
            <a:extLst>
              <a:ext uri="{FF2B5EF4-FFF2-40B4-BE49-F238E27FC236}">
                <a16:creationId xmlns:a16="http://schemas.microsoft.com/office/drawing/2014/main" id="{95A0DD1C-33D0-09B1-1F68-2763EDB46021}"/>
              </a:ext>
            </a:extLst>
          </p:cNvPr>
          <p:cNvSpPr txBox="1"/>
          <p:nvPr/>
        </p:nvSpPr>
        <p:spPr>
          <a:xfrm>
            <a:off x="1066664" y="1360750"/>
            <a:ext cx="1584174" cy="378309"/>
          </a:xfrm>
          <a:prstGeom prst="rect">
            <a:avLst/>
          </a:prstGeom>
          <a:noFill/>
        </p:spPr>
        <p:txBody>
          <a:bodyPr wrap="square" rtlCol="0">
            <a:spAutoFit/>
          </a:bodyPr>
          <a:lstStyle/>
          <a:p>
            <a:pPr algn="ctr"/>
            <a:r>
              <a:rPr lang="en-IN" dirty="0">
                <a:solidFill>
                  <a:schemeClr val="bg1"/>
                </a:solidFill>
              </a:rPr>
              <a:t>User</a:t>
            </a:r>
          </a:p>
        </p:txBody>
      </p:sp>
      <p:sp>
        <p:nvSpPr>
          <p:cNvPr id="48" name="TextBox 47">
            <a:extLst>
              <a:ext uri="{FF2B5EF4-FFF2-40B4-BE49-F238E27FC236}">
                <a16:creationId xmlns:a16="http://schemas.microsoft.com/office/drawing/2014/main" id="{07BE9B86-EA57-6539-D886-81F8946D9EDA}"/>
              </a:ext>
            </a:extLst>
          </p:cNvPr>
          <p:cNvSpPr txBox="1"/>
          <p:nvPr/>
        </p:nvSpPr>
        <p:spPr>
          <a:xfrm>
            <a:off x="958817" y="2337566"/>
            <a:ext cx="1728190" cy="369332"/>
          </a:xfrm>
          <a:prstGeom prst="rect">
            <a:avLst/>
          </a:prstGeom>
          <a:noFill/>
        </p:spPr>
        <p:txBody>
          <a:bodyPr wrap="square" rtlCol="0">
            <a:spAutoFit/>
          </a:bodyPr>
          <a:lstStyle/>
          <a:p>
            <a:pPr algn="ctr"/>
            <a:r>
              <a:rPr lang="en-IN" dirty="0">
                <a:solidFill>
                  <a:schemeClr val="bg1"/>
                </a:solidFill>
              </a:rPr>
              <a:t>Web UI</a:t>
            </a:r>
          </a:p>
        </p:txBody>
      </p:sp>
      <p:sp>
        <p:nvSpPr>
          <p:cNvPr id="49" name="TextBox 48">
            <a:extLst>
              <a:ext uri="{FF2B5EF4-FFF2-40B4-BE49-F238E27FC236}">
                <a16:creationId xmlns:a16="http://schemas.microsoft.com/office/drawing/2014/main" id="{2C2706CF-54AD-5EB0-300D-67E30C75F4F4}"/>
              </a:ext>
            </a:extLst>
          </p:cNvPr>
          <p:cNvSpPr txBox="1"/>
          <p:nvPr/>
        </p:nvSpPr>
        <p:spPr>
          <a:xfrm>
            <a:off x="1066672" y="3138741"/>
            <a:ext cx="1584166" cy="369332"/>
          </a:xfrm>
          <a:prstGeom prst="rect">
            <a:avLst/>
          </a:prstGeom>
          <a:noFill/>
        </p:spPr>
        <p:txBody>
          <a:bodyPr wrap="square" rtlCol="0">
            <a:spAutoFit/>
          </a:bodyPr>
          <a:lstStyle/>
          <a:p>
            <a:pPr algn="ctr"/>
            <a:r>
              <a:rPr lang="en-IN" dirty="0">
                <a:solidFill>
                  <a:schemeClr val="bg1"/>
                </a:solidFill>
              </a:rPr>
              <a:t>Flask API</a:t>
            </a:r>
          </a:p>
        </p:txBody>
      </p:sp>
      <p:sp>
        <p:nvSpPr>
          <p:cNvPr id="50" name="TextBox 49">
            <a:extLst>
              <a:ext uri="{FF2B5EF4-FFF2-40B4-BE49-F238E27FC236}">
                <a16:creationId xmlns:a16="http://schemas.microsoft.com/office/drawing/2014/main" id="{DF7FC9CC-8B19-0C4A-6572-B9BA1AF7D25D}"/>
              </a:ext>
            </a:extLst>
          </p:cNvPr>
          <p:cNvSpPr txBox="1"/>
          <p:nvPr/>
        </p:nvSpPr>
        <p:spPr>
          <a:xfrm>
            <a:off x="1271464" y="4011972"/>
            <a:ext cx="2160237" cy="646331"/>
          </a:xfrm>
          <a:prstGeom prst="rect">
            <a:avLst/>
          </a:prstGeom>
          <a:noFill/>
        </p:spPr>
        <p:txBody>
          <a:bodyPr wrap="square" rtlCol="0">
            <a:spAutoFit/>
          </a:bodyPr>
          <a:lstStyle/>
          <a:p>
            <a:r>
              <a:rPr lang="en-IN" dirty="0">
                <a:solidFill>
                  <a:schemeClr val="bg1"/>
                </a:solidFill>
              </a:rPr>
              <a:t>ML model  </a:t>
            </a:r>
          </a:p>
          <a:p>
            <a:r>
              <a:rPr lang="en-IN" dirty="0">
                <a:solidFill>
                  <a:schemeClr val="bg1"/>
                </a:solidFill>
              </a:rPr>
              <a:t> XG Boost</a:t>
            </a:r>
          </a:p>
        </p:txBody>
      </p:sp>
      <p:sp>
        <p:nvSpPr>
          <p:cNvPr id="51" name="TextBox 50">
            <a:extLst>
              <a:ext uri="{FF2B5EF4-FFF2-40B4-BE49-F238E27FC236}">
                <a16:creationId xmlns:a16="http://schemas.microsoft.com/office/drawing/2014/main" id="{D13C5BE8-3DAD-E8EB-4439-AA480913038D}"/>
              </a:ext>
            </a:extLst>
          </p:cNvPr>
          <p:cNvSpPr txBox="1"/>
          <p:nvPr/>
        </p:nvSpPr>
        <p:spPr>
          <a:xfrm>
            <a:off x="1199456" y="4805769"/>
            <a:ext cx="1800191" cy="646331"/>
          </a:xfrm>
          <a:prstGeom prst="rect">
            <a:avLst/>
          </a:prstGeom>
          <a:noFill/>
        </p:spPr>
        <p:txBody>
          <a:bodyPr wrap="square" rtlCol="0">
            <a:spAutoFit/>
          </a:bodyPr>
          <a:lstStyle/>
          <a:p>
            <a:r>
              <a:rPr lang="en-IN" dirty="0">
                <a:solidFill>
                  <a:schemeClr val="bg1"/>
                </a:solidFill>
              </a:rPr>
              <a:t> </a:t>
            </a:r>
          </a:p>
          <a:p>
            <a:r>
              <a:rPr lang="en-IN" dirty="0">
                <a:solidFill>
                  <a:schemeClr val="bg1"/>
                </a:solidFill>
              </a:rPr>
              <a:t>  Database</a:t>
            </a:r>
          </a:p>
        </p:txBody>
      </p:sp>
      <p:sp>
        <p:nvSpPr>
          <p:cNvPr id="52" name="TextBox 51">
            <a:extLst>
              <a:ext uri="{FF2B5EF4-FFF2-40B4-BE49-F238E27FC236}">
                <a16:creationId xmlns:a16="http://schemas.microsoft.com/office/drawing/2014/main" id="{B8864202-F854-4912-D3FF-2B7DA80D2423}"/>
              </a:ext>
            </a:extLst>
          </p:cNvPr>
          <p:cNvSpPr txBox="1"/>
          <p:nvPr/>
        </p:nvSpPr>
        <p:spPr>
          <a:xfrm>
            <a:off x="1254869" y="5868983"/>
            <a:ext cx="1800200" cy="646331"/>
          </a:xfrm>
          <a:prstGeom prst="rect">
            <a:avLst/>
          </a:prstGeom>
          <a:noFill/>
        </p:spPr>
        <p:txBody>
          <a:bodyPr wrap="square" rtlCol="0">
            <a:spAutoFit/>
          </a:bodyPr>
          <a:lstStyle/>
          <a:p>
            <a:r>
              <a:rPr lang="en-IN" dirty="0">
                <a:solidFill>
                  <a:schemeClr val="bg1"/>
                </a:solidFill>
              </a:rPr>
              <a:t>Dashboard    </a:t>
            </a:r>
          </a:p>
          <a:p>
            <a:r>
              <a:rPr lang="en-IN" dirty="0">
                <a:solidFill>
                  <a:schemeClr val="bg1"/>
                </a:solidFill>
              </a:rPr>
              <a:t>   Output</a:t>
            </a:r>
          </a:p>
        </p:txBody>
      </p:sp>
      <p:sp>
        <p:nvSpPr>
          <p:cNvPr id="53" name="TextBox 52">
            <a:extLst>
              <a:ext uri="{FF2B5EF4-FFF2-40B4-BE49-F238E27FC236}">
                <a16:creationId xmlns:a16="http://schemas.microsoft.com/office/drawing/2014/main" id="{427AFBAA-BD9D-53FA-0E72-7481AB1E2AA6}"/>
              </a:ext>
            </a:extLst>
          </p:cNvPr>
          <p:cNvSpPr txBox="1"/>
          <p:nvPr/>
        </p:nvSpPr>
        <p:spPr>
          <a:xfrm>
            <a:off x="3607437" y="1159241"/>
            <a:ext cx="8152389" cy="5632311"/>
          </a:xfrm>
          <a:prstGeom prst="rect">
            <a:avLst/>
          </a:prstGeom>
          <a:noFill/>
        </p:spPr>
        <p:txBody>
          <a:bodyPr wrap="square" rtlCol="0">
            <a:spAutoFit/>
          </a:bodyPr>
          <a:lstStyle/>
          <a:p>
            <a:r>
              <a:rPr lang="en-US" b="1" dirty="0">
                <a:solidFill>
                  <a:schemeClr val="bg1"/>
                </a:solidFill>
              </a:rPr>
              <a:t>User → Web UI:</a:t>
            </a:r>
            <a:br>
              <a:rPr lang="en-US" dirty="0">
                <a:solidFill>
                  <a:schemeClr val="bg1"/>
                </a:solidFill>
              </a:rPr>
            </a:br>
            <a:r>
              <a:rPr lang="en-US" dirty="0">
                <a:solidFill>
                  <a:schemeClr val="bg1"/>
                </a:solidFill>
              </a:rPr>
              <a:t>The user interacts with a web-based dashboard to view inventory, sales, and forecasts.</a:t>
            </a:r>
          </a:p>
          <a:p>
            <a:endParaRPr lang="en-US" dirty="0">
              <a:solidFill>
                <a:schemeClr val="bg1"/>
              </a:solidFill>
            </a:endParaRPr>
          </a:p>
          <a:p>
            <a:r>
              <a:rPr lang="en-US" b="1" dirty="0">
                <a:solidFill>
                  <a:schemeClr val="bg1"/>
                </a:solidFill>
              </a:rPr>
              <a:t>Web UI → Flask API:</a:t>
            </a:r>
            <a:br>
              <a:rPr lang="en-US" dirty="0">
                <a:solidFill>
                  <a:schemeClr val="bg1"/>
                </a:solidFill>
              </a:rPr>
            </a:br>
            <a:r>
              <a:rPr lang="en-US" dirty="0">
                <a:solidFill>
                  <a:schemeClr val="bg1"/>
                </a:solidFill>
              </a:rPr>
              <a:t>Requests from the UI are sent to the Flask backend API for processing and data retrieval.</a:t>
            </a:r>
          </a:p>
          <a:p>
            <a:endParaRPr lang="en-US" dirty="0">
              <a:solidFill>
                <a:schemeClr val="bg1"/>
              </a:solidFill>
            </a:endParaRPr>
          </a:p>
          <a:p>
            <a:r>
              <a:rPr lang="en-US" b="1" dirty="0">
                <a:solidFill>
                  <a:schemeClr val="bg1"/>
                </a:solidFill>
              </a:rPr>
              <a:t>Flask API → ML Model (</a:t>
            </a:r>
            <a:r>
              <a:rPr lang="en-US" b="1" dirty="0" err="1">
                <a:solidFill>
                  <a:schemeClr val="bg1"/>
                </a:solidFill>
              </a:rPr>
              <a:t>XGBoost</a:t>
            </a:r>
            <a:r>
              <a:rPr lang="en-US" b="1" dirty="0">
                <a:solidFill>
                  <a:schemeClr val="bg1"/>
                </a:solidFill>
              </a:rPr>
              <a:t>):</a:t>
            </a:r>
            <a:br>
              <a:rPr lang="en-US" dirty="0">
                <a:solidFill>
                  <a:schemeClr val="bg1"/>
                </a:solidFill>
              </a:rPr>
            </a:br>
            <a:r>
              <a:rPr lang="en-US" dirty="0">
                <a:solidFill>
                  <a:schemeClr val="bg1"/>
                </a:solidFill>
              </a:rPr>
              <a:t>The backend passes relevant sales and stock data to the </a:t>
            </a:r>
            <a:r>
              <a:rPr lang="en-US" dirty="0" err="1">
                <a:solidFill>
                  <a:schemeClr val="bg1"/>
                </a:solidFill>
              </a:rPr>
              <a:t>XGBoost</a:t>
            </a:r>
            <a:r>
              <a:rPr lang="en-US" dirty="0">
                <a:solidFill>
                  <a:schemeClr val="bg1"/>
                </a:solidFill>
              </a:rPr>
              <a:t> model for 7-day demand forecasting.</a:t>
            </a:r>
          </a:p>
          <a:p>
            <a:endParaRPr lang="en-US" dirty="0">
              <a:solidFill>
                <a:schemeClr val="bg1"/>
              </a:solidFill>
            </a:endParaRPr>
          </a:p>
          <a:p>
            <a:r>
              <a:rPr lang="en-US" b="1" dirty="0">
                <a:solidFill>
                  <a:schemeClr val="bg1"/>
                </a:solidFill>
              </a:rPr>
              <a:t>ML Model →  Database:</a:t>
            </a:r>
            <a:br>
              <a:rPr lang="en-US" dirty="0">
                <a:solidFill>
                  <a:schemeClr val="bg1"/>
                </a:solidFill>
              </a:rPr>
            </a:br>
            <a:r>
              <a:rPr lang="en-US" dirty="0">
                <a:solidFill>
                  <a:schemeClr val="bg1"/>
                </a:solidFill>
              </a:rPr>
              <a:t>Predictions and processed data are stored or updated in the cloud PostgreSQL database for centralized access.</a:t>
            </a:r>
          </a:p>
          <a:p>
            <a:endParaRPr lang="en-US" dirty="0">
              <a:solidFill>
                <a:schemeClr val="bg1"/>
              </a:solidFill>
            </a:endParaRPr>
          </a:p>
          <a:p>
            <a:r>
              <a:rPr lang="en-US" b="1" dirty="0">
                <a:solidFill>
                  <a:schemeClr val="bg1"/>
                </a:solidFill>
              </a:rPr>
              <a:t>Database → Dashboard Output:</a:t>
            </a:r>
            <a:br>
              <a:rPr lang="en-US" dirty="0">
                <a:solidFill>
                  <a:schemeClr val="bg1"/>
                </a:solidFill>
              </a:rPr>
            </a:br>
            <a:r>
              <a:rPr lang="en-US" dirty="0">
                <a:solidFill>
                  <a:schemeClr val="bg1"/>
                </a:solidFill>
              </a:rPr>
              <a:t>The dashboard fetches real-time data and displays stock status, alerts, and forecast insights to the user.</a:t>
            </a:r>
          </a:p>
          <a:p>
            <a:endParaRPr lang="en-IN" dirty="0">
              <a:solidFill>
                <a:schemeClr val="bg1"/>
              </a:solidFill>
            </a:endParaRPr>
          </a:p>
        </p:txBody>
      </p:sp>
      <p:pic>
        <p:nvPicPr>
          <p:cNvPr id="55" name="Picture 54" descr="A close-up of a logo&#10;&#10;AI-generated content may be incorrect.">
            <a:extLst>
              <a:ext uri="{FF2B5EF4-FFF2-40B4-BE49-F238E27FC236}">
                <a16:creationId xmlns:a16="http://schemas.microsoft.com/office/drawing/2014/main" id="{7E8F3A48-30A7-7895-83F3-3A89E98E5A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56440" y="247113"/>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63228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3" name="object 3"/>
          <p:cNvSpPr txBox="1"/>
          <p:nvPr/>
        </p:nvSpPr>
        <p:spPr>
          <a:xfrm>
            <a:off x="2355300" y="471529"/>
            <a:ext cx="7920879" cy="487313"/>
          </a:xfrm>
          <a:prstGeom prst="rect">
            <a:avLst/>
          </a:prstGeom>
        </p:spPr>
        <p:txBody>
          <a:bodyPr vert="horz" wrap="square" lIns="0" tIns="0" rIns="0" bIns="0" rtlCol="0">
            <a:spAutoFit/>
          </a:bodyPr>
          <a:lstStyle/>
          <a:p>
            <a:pPr marL="0" marR="0" algn="ctr">
              <a:lnSpc>
                <a:spcPts val="3751"/>
              </a:lnSpc>
              <a:spcBef>
                <a:spcPts val="0"/>
              </a:spcBef>
              <a:spcAft>
                <a:spcPts val="0"/>
              </a:spcAft>
            </a:pPr>
            <a:r>
              <a:rPr lang="en-IN" sz="3600" b="1" dirty="0">
                <a:solidFill>
                  <a:srgbClr val="FFFFFF"/>
                </a:solidFill>
                <a:latin typeface="OQWKHA+SegoeUI-Bold"/>
                <a:cs typeface="OQWKHA+SegoeUI-Bold"/>
              </a:rPr>
              <a:t>Implementation</a:t>
            </a:r>
            <a:endParaRPr sz="3600" b="1" dirty="0">
              <a:solidFill>
                <a:srgbClr val="FFFFFF"/>
              </a:solidFill>
              <a:latin typeface="OQWKHA+SegoeUI-Bold"/>
              <a:cs typeface="OQWKHA+SegoeUI-Bold"/>
            </a:endParaRPr>
          </a:p>
        </p:txBody>
      </p:sp>
      <p:sp>
        <p:nvSpPr>
          <p:cNvPr id="6" name="Rectangle: Rounded Corners 5">
            <a:extLst>
              <a:ext uri="{FF2B5EF4-FFF2-40B4-BE49-F238E27FC236}">
                <a16:creationId xmlns:a16="http://schemas.microsoft.com/office/drawing/2014/main" id="{20BC23FB-14E0-33C6-5D15-19314C55A7DA}"/>
              </a:ext>
            </a:extLst>
          </p:cNvPr>
          <p:cNvSpPr/>
          <p:nvPr/>
        </p:nvSpPr>
        <p:spPr>
          <a:xfrm>
            <a:off x="8328248"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7" name="Rectangle: Rounded Corners 6">
            <a:extLst>
              <a:ext uri="{FF2B5EF4-FFF2-40B4-BE49-F238E27FC236}">
                <a16:creationId xmlns:a16="http://schemas.microsoft.com/office/drawing/2014/main" id="{C809FCE8-7F23-3A4C-2436-31B9CA3A7356}"/>
              </a:ext>
            </a:extLst>
          </p:cNvPr>
          <p:cNvSpPr/>
          <p:nvPr/>
        </p:nvSpPr>
        <p:spPr>
          <a:xfrm>
            <a:off x="659396" y="1772816"/>
            <a:ext cx="3528392" cy="4824536"/>
          </a:xfrm>
          <a:prstGeom prst="roundRect">
            <a:avLst/>
          </a:prstGeom>
          <a:ln>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dirty="0"/>
          </a:p>
        </p:txBody>
      </p:sp>
      <p:sp>
        <p:nvSpPr>
          <p:cNvPr id="8" name="TextBox 7">
            <a:extLst>
              <a:ext uri="{FF2B5EF4-FFF2-40B4-BE49-F238E27FC236}">
                <a16:creationId xmlns:a16="http://schemas.microsoft.com/office/drawing/2014/main" id="{A84AE787-3281-5FF3-D259-5B4757E02B58}"/>
              </a:ext>
            </a:extLst>
          </p:cNvPr>
          <p:cNvSpPr txBox="1"/>
          <p:nvPr/>
        </p:nvSpPr>
        <p:spPr>
          <a:xfrm>
            <a:off x="479376" y="1995918"/>
            <a:ext cx="3888432" cy="5416868"/>
          </a:xfrm>
          <a:prstGeom prst="rect">
            <a:avLst/>
          </a:prstGeom>
          <a:noFill/>
        </p:spPr>
        <p:txBody>
          <a:bodyPr wrap="square" rtlCol="0">
            <a:spAutoFit/>
          </a:bodyPr>
          <a:lstStyle/>
          <a:p>
            <a:pPr algn="ctr"/>
            <a:r>
              <a:rPr lang="en-IN" b="1" dirty="0">
                <a:solidFill>
                  <a:schemeClr val="bg1"/>
                </a:solidFill>
              </a:rPr>
              <a:t> BACKEND IMPLEMENTATION</a:t>
            </a:r>
          </a:p>
          <a:p>
            <a:pPr algn="ctr"/>
            <a:endParaRPr lang="en-IN" dirty="0">
              <a:solidFill>
                <a:schemeClr val="bg1"/>
              </a:solidFill>
            </a:endParaRPr>
          </a:p>
          <a:p>
            <a:pPr lvl="1"/>
            <a:r>
              <a:rPr lang="en-IN" sz="1600" b="1" dirty="0">
                <a:solidFill>
                  <a:schemeClr val="bg1"/>
                </a:solidFill>
              </a:rPr>
              <a:t>Framework Used:</a:t>
            </a:r>
            <a:r>
              <a:rPr lang="en-IN" sz="1600" dirty="0">
                <a:solidFill>
                  <a:schemeClr val="bg1"/>
                </a:solidFill>
              </a:rPr>
              <a:t> Flask (Python)</a:t>
            </a:r>
          </a:p>
          <a:p>
            <a:pPr lvl="1"/>
            <a:endParaRPr lang="en-IN" sz="1600" dirty="0">
              <a:solidFill>
                <a:schemeClr val="bg1"/>
              </a:solidFill>
            </a:endParaRPr>
          </a:p>
          <a:p>
            <a:pPr lvl="1"/>
            <a:r>
              <a:rPr lang="en-IN" sz="1600" b="1" dirty="0">
                <a:solidFill>
                  <a:schemeClr val="bg1"/>
                </a:solidFill>
              </a:rPr>
              <a:t>Core Functionalities:</a:t>
            </a:r>
            <a:br>
              <a:rPr lang="en-IN" sz="1600" dirty="0">
                <a:solidFill>
                  <a:schemeClr val="bg1"/>
                </a:solidFill>
              </a:rPr>
            </a:br>
            <a:r>
              <a:rPr lang="en-IN" sz="1600" dirty="0">
                <a:solidFill>
                  <a:schemeClr val="bg1"/>
                </a:solidFill>
              </a:rPr>
              <a:t>• User Login Authentication</a:t>
            </a:r>
            <a:br>
              <a:rPr lang="en-IN" sz="1600" dirty="0">
                <a:solidFill>
                  <a:schemeClr val="bg1"/>
                </a:solidFill>
              </a:rPr>
            </a:br>
            <a:r>
              <a:rPr lang="en-IN" sz="1600" dirty="0">
                <a:solidFill>
                  <a:schemeClr val="bg1"/>
                </a:solidFill>
              </a:rPr>
              <a:t>• Inventory Data Retrieval</a:t>
            </a:r>
            <a:br>
              <a:rPr lang="en-IN" sz="1600" dirty="0">
                <a:solidFill>
                  <a:schemeClr val="bg1"/>
                </a:solidFill>
              </a:rPr>
            </a:br>
            <a:r>
              <a:rPr lang="en-IN" sz="1600" dirty="0">
                <a:solidFill>
                  <a:schemeClr val="bg1"/>
                </a:solidFill>
              </a:rPr>
              <a:t>• Forecast Prediction API</a:t>
            </a:r>
            <a:br>
              <a:rPr lang="en-IN" sz="1600" dirty="0">
                <a:solidFill>
                  <a:schemeClr val="bg1"/>
                </a:solidFill>
              </a:rPr>
            </a:br>
            <a:r>
              <a:rPr lang="en-IN" sz="1600" dirty="0">
                <a:solidFill>
                  <a:schemeClr val="bg1"/>
                </a:solidFill>
              </a:rPr>
              <a:t>• Stock Status Classification</a:t>
            </a:r>
            <a:br>
              <a:rPr lang="en-IN" sz="1600" dirty="0">
                <a:solidFill>
                  <a:schemeClr val="bg1"/>
                </a:solidFill>
              </a:rPr>
            </a:br>
            <a:r>
              <a:rPr lang="en-IN" sz="1600" dirty="0">
                <a:solidFill>
                  <a:schemeClr val="bg1"/>
                </a:solidFill>
              </a:rPr>
              <a:t>• Alert System Generation</a:t>
            </a:r>
            <a:br>
              <a:rPr lang="en-IN" sz="1600" dirty="0">
                <a:solidFill>
                  <a:schemeClr val="bg1"/>
                </a:solidFill>
              </a:rPr>
            </a:br>
            <a:r>
              <a:rPr lang="en-IN" sz="1600" dirty="0">
                <a:solidFill>
                  <a:schemeClr val="bg1"/>
                </a:solidFill>
              </a:rPr>
              <a:t>• </a:t>
            </a:r>
            <a:r>
              <a:rPr lang="en-IN" sz="1600" dirty="0" err="1">
                <a:solidFill>
                  <a:schemeClr val="bg1"/>
                </a:solidFill>
              </a:rPr>
              <a:t>Sqlite</a:t>
            </a:r>
            <a:r>
              <a:rPr lang="en-IN" sz="1600" dirty="0">
                <a:solidFill>
                  <a:schemeClr val="bg1"/>
                </a:solidFill>
              </a:rPr>
              <a:t> Integration</a:t>
            </a:r>
          </a:p>
          <a:p>
            <a:pPr lvl="1"/>
            <a:endParaRPr lang="en-IN" sz="1600" dirty="0">
              <a:solidFill>
                <a:schemeClr val="bg1"/>
              </a:solidFill>
            </a:endParaRPr>
          </a:p>
          <a:p>
            <a:pPr lvl="1"/>
            <a:r>
              <a:rPr lang="en-IN" sz="1600" b="1" dirty="0">
                <a:solidFill>
                  <a:schemeClr val="bg1"/>
                </a:solidFill>
              </a:rPr>
              <a:t>Backend Workflow:</a:t>
            </a:r>
            <a:endParaRPr lang="en-IN" sz="1600" dirty="0">
              <a:solidFill>
                <a:schemeClr val="bg1"/>
              </a:solidFill>
            </a:endParaRPr>
          </a:p>
          <a:p>
            <a:pPr lvl="1"/>
            <a:r>
              <a:rPr lang="en-IN" sz="1600" dirty="0">
                <a:solidFill>
                  <a:schemeClr val="bg1"/>
                </a:solidFill>
              </a:rPr>
              <a:t>Fetch data from database</a:t>
            </a:r>
          </a:p>
          <a:p>
            <a:pPr lvl="1"/>
            <a:r>
              <a:rPr lang="en-IN" sz="1600" dirty="0">
                <a:solidFill>
                  <a:schemeClr val="bg1"/>
                </a:solidFill>
              </a:rPr>
              <a:t>Run </a:t>
            </a:r>
            <a:r>
              <a:rPr lang="en-IN" sz="1600" dirty="0" err="1">
                <a:solidFill>
                  <a:schemeClr val="bg1"/>
                </a:solidFill>
              </a:rPr>
              <a:t>XGBoost</a:t>
            </a:r>
            <a:r>
              <a:rPr lang="en-IN" sz="1600" dirty="0">
                <a:solidFill>
                  <a:schemeClr val="bg1"/>
                </a:solidFill>
              </a:rPr>
              <a:t> predictions</a:t>
            </a:r>
          </a:p>
          <a:p>
            <a:pPr lvl="1"/>
            <a:r>
              <a:rPr lang="en-IN" sz="1600" dirty="0">
                <a:solidFill>
                  <a:schemeClr val="bg1"/>
                </a:solidFill>
              </a:rPr>
              <a:t>Compare stock vs forecast</a:t>
            </a:r>
          </a:p>
          <a:p>
            <a:pPr lvl="1"/>
            <a:r>
              <a:rPr lang="en-IN" sz="1600" dirty="0">
                <a:solidFill>
                  <a:schemeClr val="bg1"/>
                </a:solidFill>
              </a:rPr>
              <a:t>Generate status &amp; alerts</a:t>
            </a:r>
          </a:p>
          <a:p>
            <a:pPr lvl="1"/>
            <a:r>
              <a:rPr lang="en-IN" sz="1600" dirty="0">
                <a:solidFill>
                  <a:schemeClr val="bg1"/>
                </a:solidFill>
              </a:rPr>
              <a:t>Send output to dashboard</a:t>
            </a:r>
          </a:p>
          <a:p>
            <a:br>
              <a:rPr lang="en-IN" dirty="0">
                <a:solidFill>
                  <a:schemeClr val="bg1"/>
                </a:solidFill>
              </a:rPr>
            </a:br>
            <a:endParaRPr lang="en-IN" dirty="0">
              <a:solidFill>
                <a:schemeClr val="bg1"/>
              </a:solidFill>
            </a:endParaRPr>
          </a:p>
          <a:p>
            <a:endParaRPr lang="en-IN" dirty="0"/>
          </a:p>
        </p:txBody>
      </p:sp>
      <p:sp>
        <p:nvSpPr>
          <p:cNvPr id="10" name="TextBox 9">
            <a:extLst>
              <a:ext uri="{FF2B5EF4-FFF2-40B4-BE49-F238E27FC236}">
                <a16:creationId xmlns:a16="http://schemas.microsoft.com/office/drawing/2014/main" id="{76851338-3C5E-BE27-A667-78BD6D6B07BB}"/>
              </a:ext>
            </a:extLst>
          </p:cNvPr>
          <p:cNvSpPr txBox="1"/>
          <p:nvPr/>
        </p:nvSpPr>
        <p:spPr>
          <a:xfrm>
            <a:off x="8148228" y="1995918"/>
            <a:ext cx="3888432" cy="5201424"/>
          </a:xfrm>
          <a:prstGeom prst="rect">
            <a:avLst/>
          </a:prstGeom>
          <a:noFill/>
        </p:spPr>
        <p:txBody>
          <a:bodyPr wrap="square" rtlCol="0">
            <a:spAutoFit/>
          </a:bodyPr>
          <a:lstStyle/>
          <a:p>
            <a:pPr algn="ctr"/>
            <a:r>
              <a:rPr lang="en-IN" b="1" dirty="0">
                <a:solidFill>
                  <a:schemeClr val="bg1"/>
                </a:solidFill>
              </a:rPr>
              <a:t> FRONTEND DASHBOARD</a:t>
            </a:r>
          </a:p>
          <a:p>
            <a:pPr algn="ctr"/>
            <a:endParaRPr lang="en-IN" dirty="0">
              <a:solidFill>
                <a:schemeClr val="bg1"/>
              </a:solidFill>
            </a:endParaRPr>
          </a:p>
          <a:p>
            <a:pPr lvl="1"/>
            <a:r>
              <a:rPr lang="en-IN" sz="1600" b="1" dirty="0">
                <a:solidFill>
                  <a:schemeClr val="bg1"/>
                </a:solidFill>
              </a:rPr>
              <a:t>Dashboard Displays:</a:t>
            </a:r>
            <a:br>
              <a:rPr lang="en-IN" sz="1600" dirty="0">
                <a:solidFill>
                  <a:schemeClr val="bg1"/>
                </a:solidFill>
              </a:rPr>
            </a:br>
            <a:r>
              <a:rPr lang="en-IN" sz="1600" dirty="0">
                <a:solidFill>
                  <a:schemeClr val="bg1"/>
                </a:solidFill>
              </a:rPr>
              <a:t>• City                          • Sales</a:t>
            </a:r>
            <a:br>
              <a:rPr lang="en-IN" sz="1600" dirty="0">
                <a:solidFill>
                  <a:schemeClr val="bg1"/>
                </a:solidFill>
              </a:rPr>
            </a:br>
            <a:r>
              <a:rPr lang="en-IN" sz="1600" dirty="0">
                <a:solidFill>
                  <a:schemeClr val="bg1"/>
                </a:solidFill>
              </a:rPr>
              <a:t>• Available Stock      • Store ID</a:t>
            </a:r>
            <a:br>
              <a:rPr lang="en-IN" sz="1600" dirty="0">
                <a:solidFill>
                  <a:schemeClr val="bg1"/>
                </a:solidFill>
              </a:rPr>
            </a:br>
            <a:r>
              <a:rPr lang="en-IN" sz="1600" dirty="0">
                <a:solidFill>
                  <a:schemeClr val="bg1"/>
                </a:solidFill>
              </a:rPr>
              <a:t>• Predicted Sales      • Product ID</a:t>
            </a:r>
            <a:br>
              <a:rPr lang="en-IN" sz="1600" dirty="0">
                <a:solidFill>
                  <a:schemeClr val="bg1"/>
                </a:solidFill>
              </a:rPr>
            </a:br>
            <a:r>
              <a:rPr lang="en-IN" sz="1600" dirty="0">
                <a:solidFill>
                  <a:schemeClr val="bg1"/>
                </a:solidFill>
              </a:rPr>
              <a:t>• Stock Status            • Date</a:t>
            </a:r>
          </a:p>
          <a:p>
            <a:pPr lvl="1"/>
            <a:endParaRPr lang="en-IN" sz="1600" dirty="0">
              <a:solidFill>
                <a:schemeClr val="bg1"/>
              </a:solidFill>
            </a:endParaRPr>
          </a:p>
          <a:p>
            <a:pPr lvl="1"/>
            <a:r>
              <a:rPr lang="en-IN" sz="1600" b="1" dirty="0">
                <a:solidFill>
                  <a:schemeClr val="bg1"/>
                </a:solidFill>
              </a:rPr>
              <a:t>Frontend Technologies:</a:t>
            </a:r>
            <a:endParaRPr lang="en-IN" sz="1600" dirty="0">
              <a:solidFill>
                <a:schemeClr val="bg1"/>
              </a:solidFill>
            </a:endParaRPr>
          </a:p>
          <a:p>
            <a:pPr marL="742950" lvl="1" indent="-285750">
              <a:buFont typeface="Arial" panose="020B0604020202020204" pitchFamily="34" charset="0"/>
              <a:buChar char="•"/>
            </a:pPr>
            <a:r>
              <a:rPr lang="en-IN" sz="1600" dirty="0">
                <a:solidFill>
                  <a:schemeClr val="bg1"/>
                </a:solidFill>
              </a:rPr>
              <a:t>React </a:t>
            </a:r>
            <a:r>
              <a:rPr lang="en-IN" sz="1600" dirty="0" err="1">
                <a:solidFill>
                  <a:schemeClr val="bg1"/>
                </a:solidFill>
              </a:rPr>
              <a:t>Js</a:t>
            </a:r>
            <a:br>
              <a:rPr lang="en-IN" sz="1600" dirty="0">
                <a:solidFill>
                  <a:schemeClr val="bg1"/>
                </a:solidFill>
              </a:rPr>
            </a:br>
            <a:endParaRPr lang="en-IN" sz="1600" dirty="0">
              <a:solidFill>
                <a:schemeClr val="bg1"/>
              </a:solidFill>
            </a:endParaRPr>
          </a:p>
          <a:p>
            <a:pPr lvl="1"/>
            <a:r>
              <a:rPr lang="en-IN" sz="1600" b="1" dirty="0">
                <a:solidFill>
                  <a:schemeClr val="bg1"/>
                </a:solidFill>
              </a:rPr>
              <a:t>Dashboard Features:</a:t>
            </a:r>
            <a:br>
              <a:rPr lang="en-IN" sz="1600" dirty="0">
                <a:solidFill>
                  <a:schemeClr val="bg1"/>
                </a:solidFill>
              </a:rPr>
            </a:br>
            <a:r>
              <a:rPr lang="en-IN" sz="1600" dirty="0">
                <a:solidFill>
                  <a:schemeClr val="bg1"/>
                </a:solidFill>
              </a:rPr>
              <a:t>• Real-time monitoring</a:t>
            </a:r>
            <a:br>
              <a:rPr lang="en-IN" sz="1600" dirty="0">
                <a:solidFill>
                  <a:schemeClr val="bg1"/>
                </a:solidFill>
              </a:rPr>
            </a:br>
            <a:r>
              <a:rPr lang="en-IN" sz="1600" dirty="0">
                <a:solidFill>
                  <a:schemeClr val="bg1"/>
                </a:solidFill>
              </a:rPr>
              <a:t>• Multi-store support</a:t>
            </a:r>
            <a:br>
              <a:rPr lang="en-IN" sz="1600" dirty="0">
                <a:solidFill>
                  <a:schemeClr val="bg1"/>
                </a:solidFill>
              </a:rPr>
            </a:br>
            <a:r>
              <a:rPr lang="en-IN" sz="1600" dirty="0">
                <a:solidFill>
                  <a:schemeClr val="bg1"/>
                </a:solidFill>
              </a:rPr>
              <a:t>• Clean tabular visualization</a:t>
            </a:r>
            <a:br>
              <a:rPr lang="en-IN" sz="1600" dirty="0">
                <a:solidFill>
                  <a:schemeClr val="bg1"/>
                </a:solidFill>
              </a:rPr>
            </a:br>
            <a:r>
              <a:rPr lang="en-IN" sz="1600" dirty="0">
                <a:solidFill>
                  <a:schemeClr val="bg1"/>
                </a:solidFill>
              </a:rPr>
              <a:t>• Responsive UI</a:t>
            </a:r>
          </a:p>
          <a:p>
            <a:br>
              <a:rPr lang="en-IN" dirty="0">
                <a:solidFill>
                  <a:schemeClr val="bg1"/>
                </a:solidFill>
              </a:rPr>
            </a:br>
            <a:endParaRPr lang="en-IN" dirty="0">
              <a:solidFill>
                <a:schemeClr val="bg1"/>
              </a:solidFill>
            </a:endParaRPr>
          </a:p>
          <a:p>
            <a:endParaRPr lang="en-IN" dirty="0"/>
          </a:p>
          <a:p>
            <a:endParaRPr lang="en-IN" dirty="0"/>
          </a:p>
        </p:txBody>
      </p:sp>
      <p:pic>
        <p:nvPicPr>
          <p:cNvPr id="11" name="Picture 10" descr="A close-up of a logo&#10;&#10;AI-generated content may be incorrect.">
            <a:extLst>
              <a:ext uri="{FF2B5EF4-FFF2-40B4-BE49-F238E27FC236}">
                <a16:creationId xmlns:a16="http://schemas.microsoft.com/office/drawing/2014/main" id="{BD39D178-D5BF-0C46-0626-AE56405F2E33}"/>
              </a:ext>
            </a:extLst>
          </p:cNvPr>
          <p:cNvPicPr>
            <a:picLocks noChangeAspect="1"/>
          </p:cNvPicPr>
          <p:nvPr/>
        </p:nvPicPr>
        <p:blipFill>
          <a:blip r:embed="rId3">
            <a:extLst>
              <a:ext uri="{28A0092B-C50C-407E-A947-70E740481C1C}">
                <a14:useLocalDpi xmlns:a14="http://schemas.microsoft.com/office/drawing/2010/main" val="0"/>
              </a:ext>
            </a:extLst>
          </a:blip>
          <a:srcRect t="24800" b="24771"/>
          <a:stretch>
            <a:fillRect/>
          </a:stretch>
        </p:blipFill>
        <p:spPr>
          <a:xfrm>
            <a:off x="10416480" y="520537"/>
            <a:ext cx="1172353" cy="3892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652A15A-467C-C5A6-F8DC-2DD8479D8031}"/>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21064525-1609-2F86-4D3C-2106618C8A18}"/>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2D60AA56-D0EB-9A47-F2F3-0FEA3F31E77D}"/>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a:latin typeface="OQWKHA+SegoeUI-Bold" panose="020B0604020202020204"/>
              </a:rPr>
              <a:t>Live Inventory Dashboard </a:t>
            </a:r>
          </a:p>
        </p:txBody>
      </p:sp>
      <p:sp>
        <p:nvSpPr>
          <p:cNvPr id="5" name="AutoShape 2" descr="Generated image">
            <a:extLst>
              <a:ext uri="{FF2B5EF4-FFF2-40B4-BE49-F238E27FC236}">
                <a16:creationId xmlns:a16="http://schemas.microsoft.com/office/drawing/2014/main" id="{445764C0-799B-E656-2CE2-278B3EC5F66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descr="A close-up of a logo&#10;&#10;AI-generated content may be incorrect.">
            <a:extLst>
              <a:ext uri="{FF2B5EF4-FFF2-40B4-BE49-F238E27FC236}">
                <a16:creationId xmlns:a16="http://schemas.microsoft.com/office/drawing/2014/main" id="{C3F1A8CD-E42E-C626-DD0B-078E54B16A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3547"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4" name="Freeform 6" descr="preencoded.png">
            <a:extLst>
              <a:ext uri="{FF2B5EF4-FFF2-40B4-BE49-F238E27FC236}">
                <a16:creationId xmlns:a16="http://schemas.microsoft.com/office/drawing/2014/main" id="{701665BD-0E89-0621-F5D7-8A953BAB516A}"/>
              </a:ext>
            </a:extLst>
          </p:cNvPr>
          <p:cNvSpPr/>
          <p:nvPr/>
        </p:nvSpPr>
        <p:spPr>
          <a:xfrm>
            <a:off x="2207568" y="1196752"/>
            <a:ext cx="7009067" cy="3776684"/>
          </a:xfrm>
          <a:custGeom>
            <a:avLst/>
            <a:gdLst/>
            <a:ahLst/>
            <a:cxnLst/>
            <a:rect l="l" t="t" r="r" b="b"/>
            <a:pathLst>
              <a:path w="12903841" h="6210148">
                <a:moveTo>
                  <a:pt x="0" y="0"/>
                </a:moveTo>
                <a:lnTo>
                  <a:pt x="12903841" y="0"/>
                </a:lnTo>
                <a:lnTo>
                  <a:pt x="12903841" y="6210147"/>
                </a:lnTo>
                <a:lnTo>
                  <a:pt x="0" y="6210147"/>
                </a:lnTo>
                <a:lnTo>
                  <a:pt x="0" y="0"/>
                </a:lnTo>
                <a:close/>
              </a:path>
            </a:pathLst>
          </a:custGeom>
          <a:blipFill>
            <a:blip r:embed="rId4"/>
            <a:stretch>
              <a:fillRect l="-27" r="-27"/>
            </a:stretch>
          </a:blipFill>
        </p:spPr>
        <p:txBody>
          <a:bodyPr/>
          <a:lstStyle/>
          <a:p>
            <a:endParaRPr lang="en-IN"/>
          </a:p>
        </p:txBody>
      </p:sp>
      <p:sp>
        <p:nvSpPr>
          <p:cNvPr id="8" name="TextBox 7">
            <a:extLst>
              <a:ext uri="{FF2B5EF4-FFF2-40B4-BE49-F238E27FC236}">
                <a16:creationId xmlns:a16="http://schemas.microsoft.com/office/drawing/2014/main" id="{0A4F8F0E-479E-1C7D-142B-6E062FAB7D27}"/>
              </a:ext>
            </a:extLst>
          </p:cNvPr>
          <p:cNvSpPr txBox="1"/>
          <p:nvPr/>
        </p:nvSpPr>
        <p:spPr>
          <a:xfrm>
            <a:off x="464096" y="5244464"/>
            <a:ext cx="11568608" cy="1477328"/>
          </a:xfrm>
          <a:prstGeom prst="rect">
            <a:avLst/>
          </a:prstGeom>
          <a:noFill/>
        </p:spPr>
        <p:txBody>
          <a:bodyPr wrap="square" rtlCol="0">
            <a:spAutoFit/>
          </a:bodyPr>
          <a:lstStyle/>
          <a:p>
            <a:pPr algn="just"/>
            <a:r>
              <a:rPr lang="en-US" dirty="0">
                <a:solidFill>
                  <a:srgbClr val="E2E6E9"/>
                </a:solidFill>
                <a:ea typeface="Merriweather"/>
                <a:cs typeface="Merriweather"/>
                <a:sym typeface="Merriweather"/>
              </a:rPr>
              <a:t>This dynamic dashboard provides an immediate, comprehensive overview of your retail operations. It displays essential real-time inventory metrics, current stock levels across all locations, critical low-stock alerts, and recent transaction data. This enables managers to monitor performance, identify trends, and make informed decisions swiftly to prevent stockouts and optimise product availability.</a:t>
            </a:r>
          </a:p>
          <a:p>
            <a:pPr algn="just"/>
            <a:endParaRPr lang="en-IN" dirty="0"/>
          </a:p>
        </p:txBody>
      </p:sp>
    </p:spTree>
    <p:extLst>
      <p:ext uri="{BB962C8B-B14F-4D97-AF65-F5344CB8AC3E}">
        <p14:creationId xmlns:p14="http://schemas.microsoft.com/office/powerpoint/2010/main" val="3990421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AF9427-BB67-6B1C-AF64-B20BBFF2ABCA}"/>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D10C701E-F229-5175-1C48-4AD4E8FFCD8C}"/>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3" name="Rectangle: Rounded Corners 2">
            <a:extLst>
              <a:ext uri="{FF2B5EF4-FFF2-40B4-BE49-F238E27FC236}">
                <a16:creationId xmlns:a16="http://schemas.microsoft.com/office/drawing/2014/main" id="{A643CEBD-8EB6-57CF-5132-D006F6AB5425}"/>
              </a:ext>
            </a:extLst>
          </p:cNvPr>
          <p:cNvSpPr/>
          <p:nvPr/>
        </p:nvSpPr>
        <p:spPr>
          <a:xfrm>
            <a:off x="-168696" y="-99392"/>
            <a:ext cx="12369296" cy="108079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b="1" dirty="0" err="1">
                <a:latin typeface="OQWKHA+SegoeUI-Bold" panose="020B0604020202020204"/>
              </a:rPr>
              <a:t>SmartStock</a:t>
            </a:r>
            <a:r>
              <a:rPr lang="en-IN" sz="3600" b="1" dirty="0">
                <a:latin typeface="OQWKHA+SegoeUI-Bold" panose="020B0604020202020204"/>
              </a:rPr>
              <a:t> Assistant Dashboard </a:t>
            </a:r>
          </a:p>
        </p:txBody>
      </p:sp>
      <p:sp>
        <p:nvSpPr>
          <p:cNvPr id="5" name="AutoShape 2" descr="Generated image">
            <a:extLst>
              <a:ext uri="{FF2B5EF4-FFF2-40B4-BE49-F238E27FC236}">
                <a16:creationId xmlns:a16="http://schemas.microsoft.com/office/drawing/2014/main" id="{26CF30E2-E9A9-995C-D4E5-2B33EC5C1FB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descr="A close-up of a logo&#10;&#10;AI-generated content may be incorrect.">
            <a:extLst>
              <a:ext uri="{FF2B5EF4-FFF2-40B4-BE49-F238E27FC236}">
                <a16:creationId xmlns:a16="http://schemas.microsoft.com/office/drawing/2014/main" id="{FFA55532-4DFE-D610-463C-70C9338266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53547" y="246355"/>
            <a:ext cx="1584176" cy="3892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extBox 7">
            <a:extLst>
              <a:ext uri="{FF2B5EF4-FFF2-40B4-BE49-F238E27FC236}">
                <a16:creationId xmlns:a16="http://schemas.microsoft.com/office/drawing/2014/main" id="{14DE51C3-D8CE-9774-B95F-B8B83677F035}"/>
              </a:ext>
            </a:extLst>
          </p:cNvPr>
          <p:cNvSpPr txBox="1"/>
          <p:nvPr/>
        </p:nvSpPr>
        <p:spPr>
          <a:xfrm>
            <a:off x="5663952" y="2274838"/>
            <a:ext cx="6224736" cy="2230739"/>
          </a:xfrm>
          <a:prstGeom prst="rect">
            <a:avLst/>
          </a:prstGeom>
          <a:noFill/>
        </p:spPr>
        <p:txBody>
          <a:bodyPr wrap="square" rtlCol="0">
            <a:spAutoFit/>
          </a:bodyPr>
          <a:lstStyle/>
          <a:p>
            <a:pPr algn="just">
              <a:lnSpc>
                <a:spcPts val="2374"/>
              </a:lnSpc>
            </a:pPr>
            <a:r>
              <a:rPr lang="en-US" dirty="0">
                <a:solidFill>
                  <a:srgbClr val="E2E6E9"/>
                </a:solidFill>
                <a:ea typeface="Merriweather"/>
                <a:cs typeface="Merriweather"/>
                <a:sym typeface="Merriweather"/>
              </a:rPr>
              <a:t>The </a:t>
            </a:r>
            <a:r>
              <a:rPr lang="en-US" dirty="0" err="1">
                <a:solidFill>
                  <a:srgbClr val="E2E6E9"/>
                </a:solidFill>
                <a:ea typeface="Merriweather"/>
                <a:cs typeface="Merriweather"/>
                <a:sym typeface="Merriweather"/>
              </a:rPr>
              <a:t>SmartStock</a:t>
            </a:r>
            <a:r>
              <a:rPr lang="en-US" dirty="0">
                <a:solidFill>
                  <a:srgbClr val="E2E6E9"/>
                </a:solidFill>
                <a:ea typeface="Merriweather"/>
                <a:cs typeface="Merriweather"/>
                <a:sym typeface="Merriweather"/>
              </a:rPr>
              <a:t> Assistant Dashboard provides a comprehensive visual overview of your retail inventory. It offers real-time insights into key metrics, allowing for quick analysis of stock levels, optimal distribution across locations, and detailed product performance. This intuitive interface empowers managers to make data-driven decisions swiftly, ensuring efficient operations and </a:t>
            </a:r>
            <a:r>
              <a:rPr lang="en-US" dirty="0" err="1">
                <a:solidFill>
                  <a:srgbClr val="E2E6E9"/>
                </a:solidFill>
                <a:ea typeface="Merriweather"/>
                <a:cs typeface="Merriweather"/>
                <a:sym typeface="Merriweather"/>
              </a:rPr>
              <a:t>maximised</a:t>
            </a:r>
            <a:r>
              <a:rPr lang="en-US" dirty="0">
                <a:solidFill>
                  <a:srgbClr val="E2E6E9"/>
                </a:solidFill>
                <a:ea typeface="Merriweather"/>
                <a:cs typeface="Merriweather"/>
                <a:sym typeface="Merriweather"/>
              </a:rPr>
              <a:t> profitability.</a:t>
            </a:r>
          </a:p>
        </p:txBody>
      </p:sp>
      <p:sp>
        <p:nvSpPr>
          <p:cNvPr id="6" name="Freeform 6" descr="preencoded.png">
            <a:extLst>
              <a:ext uri="{FF2B5EF4-FFF2-40B4-BE49-F238E27FC236}">
                <a16:creationId xmlns:a16="http://schemas.microsoft.com/office/drawing/2014/main" id="{600D6DFF-8FA0-85AB-F285-8C1D0C4D1548}"/>
              </a:ext>
            </a:extLst>
          </p:cNvPr>
          <p:cNvSpPr/>
          <p:nvPr/>
        </p:nvSpPr>
        <p:spPr>
          <a:xfrm>
            <a:off x="763216" y="1196752"/>
            <a:ext cx="4252664" cy="5184576"/>
          </a:xfrm>
          <a:custGeom>
            <a:avLst/>
            <a:gdLst/>
            <a:ahLst/>
            <a:cxnLst/>
            <a:rect l="l" t="t" r="r" b="b"/>
            <a:pathLst>
              <a:path w="4924425" h="7210425">
                <a:moveTo>
                  <a:pt x="0" y="0"/>
                </a:moveTo>
                <a:lnTo>
                  <a:pt x="4924425" y="0"/>
                </a:lnTo>
                <a:lnTo>
                  <a:pt x="4924425" y="7210425"/>
                </a:lnTo>
                <a:lnTo>
                  <a:pt x="0" y="7210425"/>
                </a:lnTo>
                <a:lnTo>
                  <a:pt x="0" y="0"/>
                </a:lnTo>
                <a:close/>
              </a:path>
            </a:pathLst>
          </a:custGeom>
          <a:blipFill>
            <a:blip r:embed="rId4"/>
            <a:stretch>
              <a:fillRect/>
            </a:stretch>
          </a:blipFill>
        </p:spPr>
        <p:txBody>
          <a:bodyPr/>
          <a:lstStyle/>
          <a:p>
            <a:endParaRPr lang="en-IN"/>
          </a:p>
        </p:txBody>
      </p:sp>
    </p:spTree>
    <p:extLst>
      <p:ext uri="{BB962C8B-B14F-4D97-AF65-F5344CB8AC3E}">
        <p14:creationId xmlns:p14="http://schemas.microsoft.com/office/powerpoint/2010/main" val="2652913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12192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929001" y="437672"/>
            <a:ext cx="2333997" cy="487313"/>
          </a:xfrm>
          <a:prstGeom prst="rect">
            <a:avLst/>
          </a:prstGeom>
        </p:spPr>
        <p:txBody>
          <a:bodyPr vert="horz" wrap="square" lIns="0" tIns="0" rIns="0" bIns="0" rtlCol="0">
            <a:spAutoFit/>
          </a:bodyPr>
          <a:lstStyle/>
          <a:p>
            <a:pPr marL="0" marR="0">
              <a:lnSpc>
                <a:spcPts val="3751"/>
              </a:lnSpc>
              <a:spcBef>
                <a:spcPts val="0"/>
              </a:spcBef>
              <a:spcAft>
                <a:spcPts val="0"/>
              </a:spcAft>
            </a:pPr>
            <a:r>
              <a:rPr lang="en-IN" sz="3600" b="1" dirty="0">
                <a:solidFill>
                  <a:srgbClr val="FFFFFF"/>
                </a:solidFill>
                <a:latin typeface="OQWKHA+SegoeUI-Bold"/>
                <a:cs typeface="OQWKHA+SegoeUI-Bold"/>
              </a:rPr>
              <a:t>Conclusion</a:t>
            </a:r>
            <a:endParaRPr sz="3600" b="1" dirty="0">
              <a:solidFill>
                <a:srgbClr val="FFFFFF"/>
              </a:solidFill>
              <a:latin typeface="OQWKHA+SegoeUI-Bold"/>
              <a:cs typeface="OQWKHA+SegoeUI-Bold"/>
            </a:endParaRPr>
          </a:p>
        </p:txBody>
      </p:sp>
      <p:sp>
        <p:nvSpPr>
          <p:cNvPr id="4" name="object 4"/>
          <p:cNvSpPr txBox="1"/>
          <p:nvPr/>
        </p:nvSpPr>
        <p:spPr>
          <a:xfrm>
            <a:off x="1199881" y="3114529"/>
            <a:ext cx="3694828"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5" name="object 5"/>
          <p:cNvSpPr txBox="1"/>
          <p:nvPr/>
        </p:nvSpPr>
        <p:spPr>
          <a:xfrm>
            <a:off x="1199881" y="3526008"/>
            <a:ext cx="4690186" cy="243656"/>
          </a:xfrm>
          <a:prstGeom prst="rect">
            <a:avLst/>
          </a:prstGeom>
        </p:spPr>
        <p:txBody>
          <a:bodyPr vert="horz" wrap="square" lIns="0" tIns="0" rIns="0" bIns="0" rtlCol="0">
            <a:spAutoFit/>
          </a:bodyPr>
          <a:lstStyle/>
          <a:p>
            <a:pPr marL="0" marR="0">
              <a:lnSpc>
                <a:spcPts val="1875"/>
              </a:lnSpc>
              <a:spcBef>
                <a:spcPts val="0"/>
              </a:spcBef>
              <a:spcAft>
                <a:spcPts val="0"/>
              </a:spcAft>
            </a:pPr>
            <a:endParaRPr sz="1800" dirty="0">
              <a:solidFill>
                <a:srgbClr val="FFFFFF"/>
              </a:solidFill>
              <a:latin typeface="HGTTST+SegoeUI"/>
              <a:cs typeface="HGTTST+SegoeUI"/>
            </a:endParaRPr>
          </a:p>
        </p:txBody>
      </p:sp>
      <p:sp>
        <p:nvSpPr>
          <p:cNvPr id="6" name="object 6"/>
          <p:cNvSpPr txBox="1"/>
          <p:nvPr/>
        </p:nvSpPr>
        <p:spPr>
          <a:xfrm>
            <a:off x="219258" y="6441146"/>
            <a:ext cx="2153011" cy="192360"/>
          </a:xfrm>
          <a:prstGeom prst="rect">
            <a:avLst/>
          </a:prstGeom>
        </p:spPr>
        <p:txBody>
          <a:bodyPr vert="horz" wrap="square" lIns="0" tIns="0" rIns="0" bIns="0" rtlCol="0">
            <a:spAutoFit/>
          </a:bodyPr>
          <a:lstStyle/>
          <a:p>
            <a:pPr marL="0" marR="0">
              <a:lnSpc>
                <a:spcPts val="1458"/>
              </a:lnSpc>
              <a:spcBef>
                <a:spcPts val="0"/>
              </a:spcBef>
              <a:spcAft>
                <a:spcPts val="0"/>
              </a:spcAft>
            </a:pPr>
            <a:endParaRPr sz="1400" u="sng" dirty="0">
              <a:solidFill>
                <a:srgbClr val="FFFFFF"/>
              </a:solidFill>
              <a:latin typeface="HGTTST+SegoeUI"/>
              <a:cs typeface="HGTTST+SegoeUI"/>
              <a:hlinkClick r:id="rId3"/>
            </a:endParaRPr>
          </a:p>
        </p:txBody>
      </p:sp>
      <p:sp>
        <p:nvSpPr>
          <p:cNvPr id="7" name="TextBox 6">
            <a:extLst>
              <a:ext uri="{FF2B5EF4-FFF2-40B4-BE49-F238E27FC236}">
                <a16:creationId xmlns:a16="http://schemas.microsoft.com/office/drawing/2014/main" id="{94D83D05-21A5-B686-9487-0B3A4E11EA5F}"/>
              </a:ext>
            </a:extLst>
          </p:cNvPr>
          <p:cNvSpPr txBox="1"/>
          <p:nvPr/>
        </p:nvSpPr>
        <p:spPr>
          <a:xfrm>
            <a:off x="239469" y="1745788"/>
            <a:ext cx="6120679" cy="4524315"/>
          </a:xfrm>
          <a:prstGeom prst="rect">
            <a:avLst/>
          </a:prstGeom>
          <a:noFill/>
        </p:spPr>
        <p:txBody>
          <a:bodyPr wrap="square" rtlCol="0">
            <a:spAutoFit/>
          </a:bodyPr>
          <a:lstStyle/>
          <a:p>
            <a:pPr algn="just"/>
            <a:r>
              <a:rPr lang="en-US" sz="2400" dirty="0">
                <a:solidFill>
                  <a:schemeClr val="bg1"/>
                </a:solidFill>
              </a:rPr>
              <a:t>This project delivers an efficient AI-driven inventory forecasting system that accurately predicts sales and supports real-time stock monitoring across multiple stores. By integrating </a:t>
            </a:r>
            <a:r>
              <a:rPr lang="en-US" sz="2400" dirty="0" err="1">
                <a:solidFill>
                  <a:schemeClr val="bg1"/>
                </a:solidFill>
              </a:rPr>
              <a:t>XGBoost</a:t>
            </a:r>
            <a:r>
              <a:rPr lang="en-US" sz="2400" dirty="0">
                <a:solidFill>
                  <a:schemeClr val="bg1"/>
                </a:solidFill>
              </a:rPr>
              <a:t> modeling with a Flask backend, </a:t>
            </a:r>
            <a:r>
              <a:rPr lang="en-US" sz="2400" dirty="0" err="1">
                <a:solidFill>
                  <a:schemeClr val="bg1"/>
                </a:solidFill>
              </a:rPr>
              <a:t>sqlite</a:t>
            </a:r>
            <a:r>
              <a:rPr lang="en-US" sz="2400" dirty="0">
                <a:solidFill>
                  <a:schemeClr val="bg1"/>
                </a:solidFill>
              </a:rPr>
              <a:t> database, and cloud deployment, the system ensures reliable performance and seamless data flow. The dashboard provides clear, actionable insights that help improve inventory decisions and reduce stockouts, demonstrating the practical value of machine learning in retail operations.</a:t>
            </a:r>
            <a:endParaRPr lang="en-IN" sz="2400" b="1"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768370E-78F5-54EB-EBCB-F6F4AE05CFA1}"/>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DB6BBF58-8258-31F4-6AC2-BB2B3E7D20D7}"/>
              </a:ext>
            </a:extLst>
          </p:cNvPr>
          <p:cNvSpPr/>
          <p:nvPr/>
        </p:nvSpPr>
        <p:spPr>
          <a:xfrm>
            <a:off x="-168696" y="-99392"/>
            <a:ext cx="12369296" cy="6957392"/>
          </a:xfrm>
          <a:prstGeom prst="rect">
            <a:avLst/>
          </a:prstGeom>
          <a:blipFill>
            <a:blip r:embed="rId2" cstate="print"/>
            <a:stretch>
              <a:fillRect/>
            </a:stretch>
          </a:blipFill>
        </p:spPr>
        <p:txBody>
          <a:bodyPr wrap="square" lIns="0" tIns="0" rIns="0" bIns="0" rtlCol="0">
            <a:spAutoFit/>
          </a:bodyPr>
          <a:lstStyle/>
          <a:p>
            <a:endParaRPr dirty="0"/>
          </a:p>
        </p:txBody>
      </p:sp>
      <p:sp>
        <p:nvSpPr>
          <p:cNvPr id="11" name="TextBox 10">
            <a:extLst>
              <a:ext uri="{FF2B5EF4-FFF2-40B4-BE49-F238E27FC236}">
                <a16:creationId xmlns:a16="http://schemas.microsoft.com/office/drawing/2014/main" id="{DBE83903-7376-8BCC-F894-CACF58B7BA46}"/>
              </a:ext>
            </a:extLst>
          </p:cNvPr>
          <p:cNvSpPr txBox="1"/>
          <p:nvPr/>
        </p:nvSpPr>
        <p:spPr>
          <a:xfrm>
            <a:off x="479376" y="2276872"/>
            <a:ext cx="11233248" cy="1569660"/>
          </a:xfrm>
          <a:prstGeom prst="rect">
            <a:avLst/>
          </a:prstGeom>
          <a:noFill/>
        </p:spPr>
        <p:txBody>
          <a:bodyPr wrap="square" rtlCol="0">
            <a:spAutoFit/>
          </a:bodyPr>
          <a:lstStyle/>
          <a:p>
            <a:pPr algn="ctr"/>
            <a:r>
              <a:rPr lang="en-IN" sz="9600" dirty="0">
                <a:solidFill>
                  <a:schemeClr val="bg2"/>
                </a:solidFill>
                <a:latin typeface="Segoe UI Black" panose="020B0A02040204020203" pitchFamily="34" charset="0"/>
                <a:ea typeface="Segoe UI Black" panose="020B0A02040204020203" pitchFamily="34" charset="0"/>
              </a:rPr>
              <a:t>THANK YOU</a:t>
            </a:r>
          </a:p>
        </p:txBody>
      </p:sp>
      <p:pic>
        <p:nvPicPr>
          <p:cNvPr id="4" name="Picture 3" descr="A close-up of a logo&#10;&#10;AI-generated content may be incorrect.">
            <a:extLst>
              <a:ext uri="{FF2B5EF4-FFF2-40B4-BE49-F238E27FC236}">
                <a16:creationId xmlns:a16="http://schemas.microsoft.com/office/drawing/2014/main" id="{7B95ABDB-1506-8331-ED24-A8EC77FCC0D2}"/>
              </a:ext>
            </a:extLst>
          </p:cNvPr>
          <p:cNvPicPr>
            <a:picLocks noChangeAspect="1"/>
          </p:cNvPicPr>
          <p:nvPr/>
        </p:nvPicPr>
        <p:blipFill>
          <a:blip r:embed="rId3">
            <a:extLst>
              <a:ext uri="{28A0092B-C50C-407E-A947-70E740481C1C}">
                <a14:useLocalDpi xmlns:a14="http://schemas.microsoft.com/office/drawing/2010/main" val="0"/>
              </a:ext>
            </a:extLst>
          </a:blip>
          <a:srcRect t="26057" b="25454"/>
          <a:stretch>
            <a:fillRect/>
          </a:stretch>
        </p:blipFill>
        <p:spPr>
          <a:xfrm>
            <a:off x="10416480" y="260648"/>
            <a:ext cx="1438096" cy="395094"/>
          </a:xfrm>
          <a:prstGeom prst="rect">
            <a:avLst/>
          </a:prstGeom>
        </p:spPr>
      </p:pic>
    </p:spTree>
    <p:extLst>
      <p:ext uri="{BB962C8B-B14F-4D97-AF65-F5344CB8AC3E}">
        <p14:creationId xmlns:p14="http://schemas.microsoft.com/office/powerpoint/2010/main" val="3982350218"/>
      </p:ext>
    </p:extLst>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884</TotalTime>
  <Words>1140</Words>
  <Application>Microsoft Office PowerPoint</Application>
  <PresentationFormat>Widescreen</PresentationFormat>
  <Paragraphs>163</Paragraphs>
  <Slides>14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OQWKHA+SegoeUI-Bold</vt:lpstr>
      <vt:lpstr>HGTTST+SegoeUI</vt:lpstr>
      <vt:lpstr>Merriweather</vt:lpstr>
      <vt:lpstr>Segoe UI Black</vt:lpstr>
      <vt:lpstr>Calibri</vt:lpstr>
      <vt:lpstr>Segoe UI</vt:lpstr>
      <vt:lpstr>Arial</vt:lpstr>
      <vt:lpstr>Aptos</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pdfcandle</dc:creator>
  <cp:lastModifiedBy>Bhakthi .S.P</cp:lastModifiedBy>
  <cp:revision>1</cp:revision>
  <dcterms:modified xsi:type="dcterms:W3CDTF">2026-01-09T12:26:37Z</dcterms:modified>
</cp:coreProperties>
</file>